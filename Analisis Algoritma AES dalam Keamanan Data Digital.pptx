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469" y="1316424"/>
            <a:ext cx="4829174" cy="86677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768" y="2504489"/>
            <a:ext cx="18105755" cy="1617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01355" y="3974187"/>
            <a:ext cx="12744450" cy="168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2812" y="3458352"/>
            <a:ext cx="15067280" cy="3625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1902" y="3769769"/>
            <a:ext cx="14268449" cy="25717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27" y="3555656"/>
            <a:ext cx="4029074" cy="12334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573259" y="6331375"/>
            <a:ext cx="5141595" cy="1149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3970" marR="5080" indent="-1271905">
              <a:lnSpc>
                <a:spcPct val="115199"/>
              </a:lnSpc>
              <a:spcBef>
                <a:spcPts val="100"/>
              </a:spcBef>
            </a:pPr>
            <a:r>
              <a:rPr dirty="0" sz="3200" spc="-280">
                <a:solidFill>
                  <a:srgbClr val="737373"/>
                </a:solidFill>
                <a:latin typeface="Verdana"/>
                <a:cs typeface="Verdana"/>
              </a:rPr>
              <a:t>MUhammad</a:t>
            </a:r>
            <a:r>
              <a:rPr dirty="0" sz="3200" spc="-31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3200" spc="-200">
                <a:solidFill>
                  <a:srgbClr val="737373"/>
                </a:solidFill>
                <a:latin typeface="Verdana"/>
                <a:cs typeface="Verdana"/>
              </a:rPr>
              <a:t>Najib</a:t>
            </a:r>
            <a:r>
              <a:rPr dirty="0" sz="3200" spc="-31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3200" spc="-180">
                <a:solidFill>
                  <a:srgbClr val="737373"/>
                </a:solidFill>
                <a:latin typeface="Verdana"/>
                <a:cs typeface="Verdana"/>
              </a:rPr>
              <a:t>Ardiansah </a:t>
            </a:r>
            <a:r>
              <a:rPr dirty="0" sz="3200" spc="-120">
                <a:solidFill>
                  <a:srgbClr val="737373"/>
                </a:solidFill>
                <a:latin typeface="Verdana"/>
                <a:cs typeface="Verdana"/>
              </a:rPr>
              <a:t>20230801400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480342" y="8926260"/>
            <a:ext cx="1327785" cy="35560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2000" spc="-114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2000" spc="-75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36810" y="8557894"/>
            <a:ext cx="26142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120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73739" y="4727564"/>
            <a:ext cx="12081510" cy="63055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950" spc="-190"/>
              <a:t>Analisis</a:t>
            </a:r>
            <a:r>
              <a:rPr dirty="0" sz="3950" spc="-100"/>
              <a:t> </a:t>
            </a:r>
            <a:r>
              <a:rPr dirty="0" sz="3950" spc="-225"/>
              <a:t>Algoritma</a:t>
            </a:r>
            <a:r>
              <a:rPr dirty="0" sz="3950" spc="-70"/>
              <a:t> </a:t>
            </a:r>
            <a:r>
              <a:rPr dirty="0" sz="3950"/>
              <a:t>AES</a:t>
            </a:r>
            <a:r>
              <a:rPr dirty="0" sz="3950" spc="-175"/>
              <a:t> </a:t>
            </a:r>
            <a:r>
              <a:rPr dirty="0" sz="3950" spc="-310"/>
              <a:t>dalam</a:t>
            </a:r>
            <a:r>
              <a:rPr dirty="0" sz="3950" spc="-50"/>
              <a:t> </a:t>
            </a:r>
            <a:r>
              <a:rPr dirty="0" sz="3950" spc="-330"/>
              <a:t>Keamanan</a:t>
            </a:r>
            <a:r>
              <a:rPr dirty="0" sz="3950" spc="-50"/>
              <a:t> </a:t>
            </a:r>
            <a:r>
              <a:rPr dirty="0" sz="3950" spc="-245"/>
              <a:t>Data</a:t>
            </a:r>
            <a:r>
              <a:rPr dirty="0" sz="3950" spc="-50"/>
              <a:t> </a:t>
            </a:r>
            <a:r>
              <a:rPr dirty="0" sz="3950" spc="-100"/>
              <a:t>Digital</a:t>
            </a:r>
            <a:endParaRPr sz="3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50129" y="1552006"/>
            <a:ext cx="2823210" cy="387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b="1">
                <a:latin typeface="Tahoma"/>
                <a:cs typeface="Tahoma"/>
              </a:rPr>
              <a:t>LATAR</a:t>
            </a:r>
            <a:r>
              <a:rPr dirty="0" sz="2350" spc="85" b="1">
                <a:latin typeface="Tahoma"/>
                <a:cs typeface="Tahoma"/>
              </a:rPr>
              <a:t> </a:t>
            </a:r>
            <a:r>
              <a:rPr dirty="0" sz="2350" spc="55" b="1">
                <a:latin typeface="Tahoma"/>
                <a:cs typeface="Tahoma"/>
              </a:rPr>
              <a:t>BELAKANG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7768" y="2504489"/>
            <a:ext cx="18105755" cy="1617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16100"/>
              </a:lnSpc>
              <a:spcBef>
                <a:spcPts val="95"/>
              </a:spcBef>
            </a:pPr>
            <a:r>
              <a:rPr dirty="0" sz="3000" spc="-45">
                <a:latin typeface="Lucida Sans Unicode"/>
                <a:cs typeface="Lucida Sans Unicode"/>
              </a:rPr>
              <a:t>Dalam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era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105">
                <a:latin typeface="Lucida Sans Unicode"/>
                <a:cs typeface="Lucida Sans Unicode"/>
              </a:rPr>
              <a:t>digital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45">
                <a:latin typeface="Lucida Sans Unicode"/>
                <a:cs typeface="Lucida Sans Unicode"/>
              </a:rPr>
              <a:t>saat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120">
                <a:latin typeface="Lucida Sans Unicode"/>
                <a:cs typeface="Lucida Sans Unicode"/>
              </a:rPr>
              <a:t>ini,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35">
                <a:latin typeface="Lucida Sans Unicode"/>
                <a:cs typeface="Lucida Sans Unicode"/>
              </a:rPr>
              <a:t>keamanan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25">
                <a:latin typeface="Lucida Sans Unicode"/>
                <a:cs typeface="Lucida Sans Unicode"/>
              </a:rPr>
              <a:t>data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55">
                <a:latin typeface="Lucida Sans Unicode"/>
                <a:cs typeface="Lucida Sans Unicode"/>
              </a:rPr>
              <a:t>menjadi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45">
                <a:latin typeface="Lucida Sans Unicode"/>
                <a:cs typeface="Lucida Sans Unicode"/>
              </a:rPr>
              <a:t>kebutuhan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45">
                <a:latin typeface="Lucida Sans Unicode"/>
                <a:cs typeface="Lucida Sans Unicode"/>
              </a:rPr>
              <a:t>utama.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30">
                <a:latin typeface="Lucida Sans Unicode"/>
                <a:cs typeface="Lucida Sans Unicode"/>
              </a:rPr>
              <a:t>Setiap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75">
                <a:latin typeface="Lucida Sans Unicode"/>
                <a:cs typeface="Lucida Sans Unicode"/>
              </a:rPr>
              <a:t>hari,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50">
                <a:latin typeface="Lucida Sans Unicode"/>
                <a:cs typeface="Lucida Sans Unicode"/>
              </a:rPr>
              <a:t>jutaan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65">
                <a:latin typeface="Lucida Sans Unicode"/>
                <a:cs typeface="Lucida Sans Unicode"/>
              </a:rPr>
              <a:t>transaksi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25">
                <a:latin typeface="Lucida Sans Unicode"/>
                <a:cs typeface="Lucida Sans Unicode"/>
              </a:rPr>
              <a:t>dan </a:t>
            </a:r>
            <a:r>
              <a:rPr dirty="0" sz="3000" spc="-80">
                <a:latin typeface="Lucida Sans Unicode"/>
                <a:cs typeface="Lucida Sans Unicode"/>
              </a:rPr>
              <a:t>komunikasi</a:t>
            </a:r>
            <a:r>
              <a:rPr dirty="0" sz="3000" spc="-160">
                <a:latin typeface="Lucida Sans Unicode"/>
                <a:cs typeface="Lucida Sans Unicode"/>
              </a:rPr>
              <a:t> </a:t>
            </a:r>
            <a:r>
              <a:rPr dirty="0" sz="3000" spc="-105">
                <a:latin typeface="Lucida Sans Unicode"/>
                <a:cs typeface="Lucida Sans Unicode"/>
              </a:rPr>
              <a:t>digital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65">
                <a:latin typeface="Lucida Sans Unicode"/>
                <a:cs typeface="Lucida Sans Unicode"/>
              </a:rPr>
              <a:t>terjadi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90">
                <a:latin typeface="Lucida Sans Unicode"/>
                <a:cs typeface="Lucida Sans Unicode"/>
              </a:rPr>
              <a:t>di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80">
                <a:latin typeface="Lucida Sans Unicode"/>
                <a:cs typeface="Lucida Sans Unicode"/>
              </a:rPr>
              <a:t>jaringan</a:t>
            </a:r>
            <a:r>
              <a:rPr dirty="0" sz="3000" spc="-160">
                <a:latin typeface="Lucida Sans Unicode"/>
                <a:cs typeface="Lucida Sans Unicode"/>
              </a:rPr>
              <a:t> </a:t>
            </a:r>
            <a:r>
              <a:rPr dirty="0" sz="3000" spc="-90">
                <a:latin typeface="Lucida Sans Unicode"/>
                <a:cs typeface="Lucida Sans Unicode"/>
              </a:rPr>
              <a:t>yang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20">
                <a:latin typeface="Lucida Sans Unicode"/>
                <a:cs typeface="Lucida Sans Unicode"/>
              </a:rPr>
              <a:t>rentan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30">
                <a:latin typeface="Lucida Sans Unicode"/>
                <a:cs typeface="Lucida Sans Unicode"/>
              </a:rPr>
              <a:t>terhadap</a:t>
            </a:r>
            <a:r>
              <a:rPr dirty="0" sz="3000" spc="-160">
                <a:latin typeface="Lucida Sans Unicode"/>
                <a:cs typeface="Lucida Sans Unicode"/>
              </a:rPr>
              <a:t> </a:t>
            </a:r>
            <a:r>
              <a:rPr dirty="0" sz="3000" spc="-30">
                <a:latin typeface="Lucida Sans Unicode"/>
                <a:cs typeface="Lucida Sans Unicode"/>
              </a:rPr>
              <a:t>penyadapan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10">
                <a:latin typeface="Lucida Sans Unicode"/>
                <a:cs typeface="Lucida Sans Unicode"/>
              </a:rPr>
              <a:t>dan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40">
                <a:latin typeface="Lucida Sans Unicode"/>
                <a:cs typeface="Lucida Sans Unicode"/>
              </a:rPr>
              <a:t>pencurian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20">
                <a:latin typeface="Lucida Sans Unicode"/>
                <a:cs typeface="Lucida Sans Unicode"/>
              </a:rPr>
              <a:t>data.</a:t>
            </a:r>
            <a:endParaRPr sz="30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dirty="0" sz="3000" spc="-80">
                <a:latin typeface="Lucida Sans Unicode"/>
                <a:cs typeface="Lucida Sans Unicode"/>
              </a:rPr>
              <a:t>Kriptografi</a:t>
            </a:r>
            <a:r>
              <a:rPr dirty="0" sz="3000" spc="-145">
                <a:latin typeface="Lucida Sans Unicode"/>
                <a:cs typeface="Lucida Sans Unicode"/>
              </a:rPr>
              <a:t> </a:t>
            </a:r>
            <a:r>
              <a:rPr dirty="0" sz="3000" spc="-75">
                <a:latin typeface="Lucida Sans Unicode"/>
                <a:cs typeface="Lucida Sans Unicode"/>
              </a:rPr>
              <a:t>digunakan</a:t>
            </a:r>
            <a:r>
              <a:rPr dirty="0" sz="3000" spc="-140">
                <a:latin typeface="Lucida Sans Unicode"/>
                <a:cs typeface="Lucida Sans Unicode"/>
              </a:rPr>
              <a:t> </a:t>
            </a:r>
            <a:r>
              <a:rPr dirty="0" sz="3000" spc="-65">
                <a:latin typeface="Lucida Sans Unicode"/>
                <a:cs typeface="Lucida Sans Unicode"/>
              </a:rPr>
              <a:t>untuk</a:t>
            </a:r>
            <a:r>
              <a:rPr dirty="0" sz="3000" spc="-140">
                <a:latin typeface="Lucida Sans Unicode"/>
                <a:cs typeface="Lucida Sans Unicode"/>
              </a:rPr>
              <a:t> </a:t>
            </a:r>
            <a:r>
              <a:rPr dirty="0" sz="3000" spc="-75">
                <a:latin typeface="Lucida Sans Unicode"/>
                <a:cs typeface="Lucida Sans Unicode"/>
              </a:rPr>
              <a:t>menjaga</a:t>
            </a:r>
            <a:r>
              <a:rPr dirty="0" sz="3000" spc="-140">
                <a:latin typeface="Lucida Sans Unicode"/>
                <a:cs typeface="Lucida Sans Unicode"/>
              </a:rPr>
              <a:t> </a:t>
            </a:r>
            <a:r>
              <a:rPr dirty="0" sz="3000" spc="-60">
                <a:latin typeface="Lucida Sans Unicode"/>
                <a:cs typeface="Lucida Sans Unicode"/>
              </a:rPr>
              <a:t>kerahasiaan,</a:t>
            </a:r>
            <a:r>
              <a:rPr dirty="0" sz="3000" spc="-140">
                <a:latin typeface="Lucida Sans Unicode"/>
                <a:cs typeface="Lucida Sans Unicode"/>
              </a:rPr>
              <a:t> </a:t>
            </a:r>
            <a:r>
              <a:rPr dirty="0" sz="3000" spc="-95">
                <a:latin typeface="Lucida Sans Unicode"/>
                <a:cs typeface="Lucida Sans Unicode"/>
              </a:rPr>
              <a:t>integritas,</a:t>
            </a:r>
            <a:r>
              <a:rPr dirty="0" sz="3000" spc="-145">
                <a:latin typeface="Lucida Sans Unicode"/>
                <a:cs typeface="Lucida Sans Unicode"/>
              </a:rPr>
              <a:t> </a:t>
            </a:r>
            <a:r>
              <a:rPr dirty="0" sz="3000" spc="-10">
                <a:latin typeface="Lucida Sans Unicode"/>
                <a:cs typeface="Lucida Sans Unicode"/>
              </a:rPr>
              <a:t>dan</a:t>
            </a:r>
            <a:r>
              <a:rPr dirty="0" sz="3000" spc="-140">
                <a:latin typeface="Lucida Sans Unicode"/>
                <a:cs typeface="Lucida Sans Unicode"/>
              </a:rPr>
              <a:t> </a:t>
            </a:r>
            <a:r>
              <a:rPr dirty="0" sz="3000" spc="-65">
                <a:latin typeface="Lucida Sans Unicode"/>
                <a:cs typeface="Lucida Sans Unicode"/>
              </a:rPr>
              <a:t>autentikasi</a:t>
            </a:r>
            <a:r>
              <a:rPr dirty="0" sz="3000" spc="-140">
                <a:latin typeface="Lucida Sans Unicode"/>
                <a:cs typeface="Lucida Sans Unicode"/>
              </a:rPr>
              <a:t> </a:t>
            </a:r>
            <a:r>
              <a:rPr dirty="0" sz="3000" spc="-20">
                <a:latin typeface="Lucida Sans Unicode"/>
                <a:cs typeface="Lucida Sans Unicode"/>
              </a:rPr>
              <a:t>data.</a:t>
            </a:r>
            <a:endParaRPr sz="30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8706" y="4096954"/>
            <a:ext cx="18044160" cy="1617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99060">
              <a:lnSpc>
                <a:spcPct val="116100"/>
              </a:lnSpc>
              <a:spcBef>
                <a:spcPts val="95"/>
              </a:spcBef>
            </a:pPr>
            <a:r>
              <a:rPr dirty="0" sz="3000" spc="-90">
                <a:latin typeface="Lucida Sans Unicode"/>
                <a:cs typeface="Lucida Sans Unicode"/>
              </a:rPr>
              <a:t>Algoritma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65">
                <a:latin typeface="Lucida Sans Unicode"/>
                <a:cs typeface="Lucida Sans Unicode"/>
              </a:rPr>
              <a:t>Advanced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50">
                <a:latin typeface="Lucida Sans Unicode"/>
                <a:cs typeface="Lucida Sans Unicode"/>
              </a:rPr>
              <a:t>Encryption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25">
                <a:latin typeface="Lucida Sans Unicode"/>
                <a:cs typeface="Lucida Sans Unicode"/>
              </a:rPr>
              <a:t>Standard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65">
                <a:latin typeface="Lucida Sans Unicode"/>
                <a:cs typeface="Lucida Sans Unicode"/>
              </a:rPr>
              <a:t>(AES)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35">
                <a:latin typeface="Lucida Sans Unicode"/>
                <a:cs typeface="Lucida Sans Unicode"/>
              </a:rPr>
              <a:t>telah</a:t>
            </a:r>
            <a:r>
              <a:rPr dirty="0" sz="3000" spc="-150">
                <a:latin typeface="Lucida Sans Unicode"/>
                <a:cs typeface="Lucida Sans Unicode"/>
              </a:rPr>
              <a:t> </a:t>
            </a:r>
            <a:r>
              <a:rPr dirty="0" sz="3000" spc="-55">
                <a:latin typeface="Lucida Sans Unicode"/>
                <a:cs typeface="Lucida Sans Unicode"/>
              </a:rPr>
              <a:t>menjadi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35">
                <a:latin typeface="Lucida Sans Unicode"/>
                <a:cs typeface="Lucida Sans Unicode"/>
              </a:rPr>
              <a:t>standar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80">
                <a:latin typeface="Lucida Sans Unicode"/>
                <a:cs typeface="Lucida Sans Unicode"/>
              </a:rPr>
              <a:t>enkripsi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70">
                <a:latin typeface="Lucida Sans Unicode"/>
                <a:cs typeface="Lucida Sans Unicode"/>
              </a:rPr>
              <a:t>simetris</a:t>
            </a:r>
            <a:r>
              <a:rPr dirty="0" sz="3000" spc="-155">
                <a:latin typeface="Lucida Sans Unicode"/>
                <a:cs typeface="Lucida Sans Unicode"/>
              </a:rPr>
              <a:t> </a:t>
            </a:r>
            <a:r>
              <a:rPr dirty="0" sz="3000" spc="-10">
                <a:latin typeface="Lucida Sans Unicode"/>
                <a:cs typeface="Lucida Sans Unicode"/>
              </a:rPr>
              <a:t>internasional </a:t>
            </a:r>
            <a:r>
              <a:rPr dirty="0" sz="3000" spc="-90">
                <a:latin typeface="Lucida Sans Unicode"/>
                <a:cs typeface="Lucida Sans Unicode"/>
              </a:rPr>
              <a:t>yang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60">
                <a:latin typeface="Lucida Sans Unicode"/>
                <a:cs typeface="Lucida Sans Unicode"/>
              </a:rPr>
              <a:t>efisien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10">
                <a:latin typeface="Lucida Sans Unicode"/>
                <a:cs typeface="Lucida Sans Unicode"/>
              </a:rPr>
              <a:t>dan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>
                <a:latin typeface="Lucida Sans Unicode"/>
                <a:cs typeface="Lucida Sans Unicode"/>
              </a:rPr>
              <a:t>aman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95">
                <a:latin typeface="Lucida Sans Unicode"/>
                <a:cs typeface="Lucida Sans Unicode"/>
              </a:rPr>
              <a:t>sejak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204">
                <a:latin typeface="Lucida Sans Unicode"/>
                <a:cs typeface="Lucida Sans Unicode"/>
              </a:rPr>
              <a:t>2001,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75">
                <a:latin typeface="Lucida Sans Unicode"/>
                <a:cs typeface="Lucida Sans Unicode"/>
              </a:rPr>
              <a:t>digunakan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25">
                <a:latin typeface="Lucida Sans Unicode"/>
                <a:cs typeface="Lucida Sans Unicode"/>
              </a:rPr>
              <a:t>pada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70">
                <a:latin typeface="Lucida Sans Unicode"/>
                <a:cs typeface="Lucida Sans Unicode"/>
              </a:rPr>
              <a:t>sistem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35">
                <a:latin typeface="Lucida Sans Unicode"/>
                <a:cs typeface="Lucida Sans Unicode"/>
              </a:rPr>
              <a:t>keamanan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95">
                <a:latin typeface="Lucida Sans Unicode"/>
                <a:cs typeface="Lucida Sans Unicode"/>
              </a:rPr>
              <a:t>jaringan,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100">
                <a:latin typeface="Lucida Sans Unicode"/>
                <a:cs typeface="Lucida Sans Unicode"/>
              </a:rPr>
              <a:t>cloud,</a:t>
            </a:r>
            <a:r>
              <a:rPr dirty="0" sz="3000" spc="-165">
                <a:latin typeface="Lucida Sans Unicode"/>
                <a:cs typeface="Lucida Sans Unicode"/>
              </a:rPr>
              <a:t> </a:t>
            </a:r>
            <a:r>
              <a:rPr dirty="0" sz="3000" spc="-10">
                <a:latin typeface="Lucida Sans Unicode"/>
                <a:cs typeface="Lucida Sans Unicode"/>
              </a:rPr>
              <a:t>dan</a:t>
            </a:r>
            <a:r>
              <a:rPr dirty="0" sz="3000" spc="-170">
                <a:latin typeface="Lucida Sans Unicode"/>
                <a:cs typeface="Lucida Sans Unicode"/>
              </a:rPr>
              <a:t> </a:t>
            </a:r>
            <a:r>
              <a:rPr dirty="0" sz="3000" spc="-10">
                <a:latin typeface="Lucida Sans Unicode"/>
                <a:cs typeface="Lucida Sans Unicode"/>
              </a:rPr>
              <a:t>komunikasi digital.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469" y="1316424"/>
            <a:ext cx="4829174" cy="8667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4069" y="2641263"/>
            <a:ext cx="104775" cy="1047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4069" y="2974638"/>
            <a:ext cx="104775" cy="1047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4069" y="3308013"/>
            <a:ext cx="104775" cy="1047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4069" y="3974762"/>
            <a:ext cx="104775" cy="10477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529260" y="1552006"/>
            <a:ext cx="13027025" cy="26466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56870">
              <a:lnSpc>
                <a:spcPct val="100000"/>
              </a:lnSpc>
              <a:spcBef>
                <a:spcPts val="120"/>
              </a:spcBef>
            </a:pPr>
            <a:r>
              <a:rPr dirty="0" sz="2350" spc="50" b="1">
                <a:latin typeface="Tahoma"/>
                <a:cs typeface="Tahoma"/>
              </a:rPr>
              <a:t>RUMUSAN</a:t>
            </a:r>
            <a:r>
              <a:rPr dirty="0" sz="2350" spc="-90" b="1">
                <a:latin typeface="Tahoma"/>
                <a:cs typeface="Tahoma"/>
              </a:rPr>
              <a:t> </a:t>
            </a:r>
            <a:r>
              <a:rPr dirty="0" sz="2350" spc="55" b="1">
                <a:latin typeface="Tahoma"/>
                <a:cs typeface="Tahoma"/>
              </a:rPr>
              <a:t>MASALAH</a:t>
            </a: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95"/>
              </a:spcBef>
            </a:pPr>
            <a:endParaRPr sz="2350">
              <a:latin typeface="Tahoma"/>
              <a:cs typeface="Tahoma"/>
            </a:endParaRPr>
          </a:p>
          <a:p>
            <a:pPr marL="12700" marR="1950085">
              <a:lnSpc>
                <a:spcPts val="2630"/>
              </a:lnSpc>
            </a:pPr>
            <a:r>
              <a:rPr dirty="0" sz="2300" spc="150">
                <a:solidFill>
                  <a:srgbClr val="4E4F2E"/>
                </a:solidFill>
                <a:latin typeface="Lucida Sans Unicode"/>
                <a:cs typeface="Lucida Sans Unicode"/>
              </a:rPr>
              <a:t>Bagaimana</a:t>
            </a:r>
            <a:r>
              <a:rPr dirty="0" sz="230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60">
                <a:solidFill>
                  <a:srgbClr val="4E4F2E"/>
                </a:solidFill>
                <a:latin typeface="Lucida Sans Unicode"/>
                <a:cs typeface="Lucida Sans Unicode"/>
              </a:rPr>
              <a:t>algoritma</a:t>
            </a:r>
            <a:r>
              <a:rPr dirty="0" sz="230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AES</a:t>
            </a:r>
            <a:r>
              <a:rPr dirty="0" sz="230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bekerja</a:t>
            </a:r>
            <a:r>
              <a:rPr dirty="0" sz="230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45">
                <a:solidFill>
                  <a:srgbClr val="4E4F2E"/>
                </a:solidFill>
                <a:latin typeface="Lucida Sans Unicode"/>
                <a:cs typeface="Lucida Sans Unicode"/>
              </a:rPr>
              <a:t>dalam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20">
                <a:solidFill>
                  <a:srgbClr val="4E4F2E"/>
                </a:solidFill>
                <a:latin typeface="Lucida Sans Unicode"/>
                <a:cs typeface="Lucida Sans Unicode"/>
              </a:rPr>
              <a:t>menjaga</a:t>
            </a:r>
            <a:r>
              <a:rPr dirty="0" sz="230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25">
                <a:solidFill>
                  <a:srgbClr val="4E4F2E"/>
                </a:solidFill>
                <a:latin typeface="Lucida Sans Unicode"/>
                <a:cs typeface="Lucida Sans Unicode"/>
              </a:rPr>
              <a:t>keamanan</a:t>
            </a:r>
            <a:r>
              <a:rPr dirty="0" sz="230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45">
                <a:solidFill>
                  <a:srgbClr val="4E4F2E"/>
                </a:solidFill>
                <a:latin typeface="Lucida Sans Unicode"/>
                <a:cs typeface="Lucida Sans Unicode"/>
              </a:rPr>
              <a:t>data</a:t>
            </a:r>
            <a:r>
              <a:rPr dirty="0" sz="230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4E4F2E"/>
                </a:solidFill>
                <a:latin typeface="Lucida Sans Unicode"/>
                <a:cs typeface="Lucida Sans Unicode"/>
              </a:rPr>
              <a:t>digital? </a:t>
            </a:r>
            <a:r>
              <a:rPr dirty="0" sz="2300" spc="100">
                <a:solidFill>
                  <a:srgbClr val="4E4F2E"/>
                </a:solidFill>
                <a:latin typeface="Lucida Sans Unicode"/>
                <a:cs typeface="Lucida Sans Unicode"/>
              </a:rPr>
              <a:t>Apa</a:t>
            </a:r>
            <a:r>
              <a:rPr dirty="0" sz="2300" spc="-10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45">
                <a:solidFill>
                  <a:srgbClr val="4E4F2E"/>
                </a:solidFill>
                <a:latin typeface="Lucida Sans Unicode"/>
                <a:cs typeface="Lucida Sans Unicode"/>
              </a:rPr>
              <a:t>keunggulan</a:t>
            </a:r>
            <a:r>
              <a:rPr dirty="0" sz="230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30">
                <a:solidFill>
                  <a:srgbClr val="4E4F2E"/>
                </a:solidFill>
                <a:latin typeface="Lucida Sans Unicode"/>
                <a:cs typeface="Lucida Sans Unicode"/>
              </a:rPr>
              <a:t>dan</a:t>
            </a:r>
            <a:r>
              <a:rPr dirty="0" sz="230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85">
                <a:solidFill>
                  <a:srgbClr val="4E4F2E"/>
                </a:solidFill>
                <a:latin typeface="Lucida Sans Unicode"/>
                <a:cs typeface="Lucida Sans Unicode"/>
              </a:rPr>
              <a:t>kelemahan</a:t>
            </a:r>
            <a:r>
              <a:rPr dirty="0" sz="2300" spc="-10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AES</a:t>
            </a:r>
            <a:r>
              <a:rPr dirty="0" sz="230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0">
                <a:solidFill>
                  <a:srgbClr val="4E4F2E"/>
                </a:solidFill>
                <a:latin typeface="Lucida Sans Unicode"/>
                <a:cs typeface="Lucida Sans Unicode"/>
              </a:rPr>
              <a:t>dibandingkan</a:t>
            </a:r>
            <a:r>
              <a:rPr dirty="0" sz="230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60">
                <a:solidFill>
                  <a:srgbClr val="4E4F2E"/>
                </a:solidFill>
                <a:latin typeface="Lucida Sans Unicode"/>
                <a:cs typeface="Lucida Sans Unicode"/>
              </a:rPr>
              <a:t>algoritma</a:t>
            </a:r>
            <a:r>
              <a:rPr dirty="0" sz="230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0">
                <a:solidFill>
                  <a:srgbClr val="4E4F2E"/>
                </a:solidFill>
                <a:latin typeface="Lucida Sans Unicode"/>
                <a:cs typeface="Lucida Sans Unicode"/>
              </a:rPr>
              <a:t>lain?</a:t>
            </a:r>
            <a:endParaRPr sz="2300">
              <a:latin typeface="Lucida Sans Unicode"/>
              <a:cs typeface="Lucida Sans Unicode"/>
            </a:endParaRPr>
          </a:p>
          <a:p>
            <a:pPr marL="12700">
              <a:lnSpc>
                <a:spcPts val="2485"/>
              </a:lnSpc>
            </a:pPr>
            <a:r>
              <a:rPr dirty="0" sz="2300" spc="150">
                <a:solidFill>
                  <a:srgbClr val="4E4F2E"/>
                </a:solidFill>
                <a:latin typeface="Lucida Sans Unicode"/>
                <a:cs typeface="Lucida Sans Unicode"/>
              </a:rPr>
              <a:t>Bagaimana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konsep</a:t>
            </a:r>
            <a:r>
              <a:rPr dirty="0" sz="2300" spc="-5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4E4F2E"/>
                </a:solidFill>
                <a:latin typeface="Lucida Sans Unicode"/>
                <a:cs typeface="Lucida Sans Unicode"/>
              </a:rPr>
              <a:t>priority</a:t>
            </a:r>
            <a:r>
              <a:rPr dirty="0" sz="2300" spc="-5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80">
                <a:solidFill>
                  <a:srgbClr val="4E4F2E"/>
                </a:solidFill>
                <a:latin typeface="Lucida Sans Unicode"/>
                <a:cs typeface="Lucida Sans Unicode"/>
              </a:rPr>
              <a:t>queue</a:t>
            </a:r>
            <a:r>
              <a:rPr dirty="0" sz="2300" spc="-5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35">
                <a:solidFill>
                  <a:srgbClr val="4E4F2E"/>
                </a:solidFill>
                <a:latin typeface="Lucida Sans Unicode"/>
                <a:cs typeface="Lucida Sans Unicode"/>
              </a:rPr>
              <a:t>dapat</a:t>
            </a:r>
            <a:r>
              <a:rPr dirty="0" sz="2300" spc="-5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diintegrasikan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10">
                <a:solidFill>
                  <a:srgbClr val="4E4F2E"/>
                </a:solidFill>
                <a:latin typeface="Lucida Sans Unicode"/>
                <a:cs typeface="Lucida Sans Unicode"/>
              </a:rPr>
              <a:t>dengan</a:t>
            </a:r>
            <a:r>
              <a:rPr dirty="0" sz="2300" spc="-5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AES</a:t>
            </a:r>
            <a:r>
              <a:rPr dirty="0" sz="2300" spc="-5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4E4F2E"/>
                </a:solidFill>
                <a:latin typeface="Lucida Sans Unicode"/>
                <a:cs typeface="Lucida Sans Unicode"/>
              </a:rPr>
              <a:t>untuk</a:t>
            </a:r>
            <a:r>
              <a:rPr dirty="0" sz="2300" spc="-5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35">
                <a:solidFill>
                  <a:srgbClr val="4E4F2E"/>
                </a:solidFill>
                <a:latin typeface="Lucida Sans Unicode"/>
                <a:cs typeface="Lucida Sans Unicode"/>
              </a:rPr>
              <a:t>meningkatkan</a:t>
            </a:r>
            <a:endParaRPr sz="2300">
              <a:latin typeface="Lucida Sans Unicode"/>
              <a:cs typeface="Lucida Sans Unicode"/>
            </a:endParaRPr>
          </a:p>
          <a:p>
            <a:pPr marL="12700">
              <a:lnSpc>
                <a:spcPts val="2625"/>
              </a:lnSpc>
            </a:pPr>
            <a:r>
              <a:rPr dirty="0" sz="2300" spc="-10">
                <a:solidFill>
                  <a:srgbClr val="4E4F2E"/>
                </a:solidFill>
                <a:latin typeface="Lucida Sans Unicode"/>
                <a:cs typeface="Lucida Sans Unicode"/>
              </a:rPr>
              <a:t>efisiensi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proses </a:t>
            </a:r>
            <a:r>
              <a:rPr dirty="0" sz="2300" spc="-10">
                <a:solidFill>
                  <a:srgbClr val="4E4F2E"/>
                </a:solidFill>
                <a:latin typeface="Lucida Sans Unicode"/>
                <a:cs typeface="Lucida Sans Unicode"/>
              </a:rPr>
              <a:t>enkripsi?</a:t>
            </a:r>
            <a:endParaRPr sz="2300">
              <a:latin typeface="Lucida Sans Unicode"/>
              <a:cs typeface="Lucida Sans Unicode"/>
            </a:endParaRPr>
          </a:p>
          <a:p>
            <a:pPr marL="12700">
              <a:lnSpc>
                <a:spcPts val="2695"/>
              </a:lnSpc>
            </a:pPr>
            <a:r>
              <a:rPr dirty="0" sz="2300" spc="100">
                <a:solidFill>
                  <a:srgbClr val="4E4F2E"/>
                </a:solidFill>
                <a:latin typeface="Lucida Sans Unicode"/>
                <a:cs typeface="Lucida Sans Unicode"/>
              </a:rPr>
              <a:t>Apa</a:t>
            </a:r>
            <a:r>
              <a:rPr dirty="0" sz="2300" spc="-5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30">
                <a:solidFill>
                  <a:srgbClr val="4E4F2E"/>
                </a:solidFill>
                <a:latin typeface="Lucida Sans Unicode"/>
                <a:cs typeface="Lucida Sans Unicode"/>
              </a:rPr>
              <a:t>manfaat</a:t>
            </a:r>
            <a:r>
              <a:rPr dirty="0" sz="2300" spc="-4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integrasi</a:t>
            </a:r>
            <a:r>
              <a:rPr dirty="0" sz="2300" spc="-5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tersebut</a:t>
            </a:r>
            <a:r>
              <a:rPr dirty="0" sz="2300" spc="-4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95">
                <a:solidFill>
                  <a:srgbClr val="4E4F2E"/>
                </a:solidFill>
                <a:latin typeface="Lucida Sans Unicode"/>
                <a:cs typeface="Lucida Sans Unicode"/>
              </a:rPr>
              <a:t>terhadap</a:t>
            </a:r>
            <a:r>
              <a:rPr dirty="0" sz="2300" spc="-5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25">
                <a:solidFill>
                  <a:srgbClr val="4E4F2E"/>
                </a:solidFill>
                <a:latin typeface="Lucida Sans Unicode"/>
                <a:cs typeface="Lucida Sans Unicode"/>
              </a:rPr>
              <a:t>keamanan</a:t>
            </a:r>
            <a:r>
              <a:rPr dirty="0" sz="2300" spc="-4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30">
                <a:solidFill>
                  <a:srgbClr val="4E4F2E"/>
                </a:solidFill>
                <a:latin typeface="Lucida Sans Unicode"/>
                <a:cs typeface="Lucida Sans Unicode"/>
              </a:rPr>
              <a:t>dan</a:t>
            </a:r>
            <a:r>
              <a:rPr dirty="0" sz="2300" spc="-5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00">
                <a:solidFill>
                  <a:srgbClr val="4E4F2E"/>
                </a:solidFill>
                <a:latin typeface="Lucida Sans Unicode"/>
                <a:cs typeface="Lucida Sans Unicode"/>
              </a:rPr>
              <a:t>kecepatan</a:t>
            </a:r>
            <a:r>
              <a:rPr dirty="0" sz="2300" spc="-4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5">
                <a:solidFill>
                  <a:srgbClr val="4E4F2E"/>
                </a:solidFill>
                <a:latin typeface="Lucida Sans Unicode"/>
                <a:cs typeface="Lucida Sans Unicode"/>
              </a:rPr>
              <a:t>sistem?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469" y="1316424"/>
            <a:ext cx="4829174" cy="8667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631137" y="1552006"/>
            <a:ext cx="1661160" cy="387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spc="-10" b="1">
                <a:latin typeface="Tahoma"/>
                <a:cs typeface="Tahoma"/>
              </a:rPr>
              <a:t>ABSTRACT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442152" y="4272026"/>
            <a:ext cx="13403580" cy="170942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 marL="376555" marR="368935">
              <a:lnSpc>
                <a:spcPts val="2630"/>
              </a:lnSpc>
              <a:spcBef>
                <a:spcPts val="295"/>
              </a:spcBef>
            </a:pP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Lorem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0">
                <a:solidFill>
                  <a:srgbClr val="4E4F2E"/>
                </a:solidFill>
                <a:latin typeface="Lucida Sans Unicode"/>
                <a:cs typeface="Lucida Sans Unicode"/>
              </a:rPr>
              <a:t>ipsum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dolor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4E4F2E"/>
                </a:solidFill>
                <a:latin typeface="Lucida Sans Unicode"/>
                <a:cs typeface="Lucida Sans Unicode"/>
              </a:rPr>
              <a:t>sit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5">
                <a:solidFill>
                  <a:srgbClr val="4E4F2E"/>
                </a:solidFill>
                <a:latin typeface="Lucida Sans Unicode"/>
                <a:cs typeface="Lucida Sans Unicode"/>
              </a:rPr>
              <a:t>amet,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60">
                <a:solidFill>
                  <a:srgbClr val="4E4F2E"/>
                </a:solidFill>
                <a:latin typeface="Lucida Sans Unicode"/>
                <a:cs typeface="Lucida Sans Unicode"/>
              </a:rPr>
              <a:t>consectetur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0">
                <a:solidFill>
                  <a:srgbClr val="4E4F2E"/>
                </a:solidFill>
                <a:latin typeface="Lucida Sans Unicode"/>
                <a:cs typeface="Lucida Sans Unicode"/>
              </a:rPr>
              <a:t>adipiscing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80">
                <a:solidFill>
                  <a:srgbClr val="4E4F2E"/>
                </a:solidFill>
                <a:latin typeface="Lucida Sans Unicode"/>
                <a:cs typeface="Lucida Sans Unicode"/>
              </a:rPr>
              <a:t>elit.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Quisque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non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0">
                <a:solidFill>
                  <a:srgbClr val="4E4F2E"/>
                </a:solidFill>
                <a:latin typeface="Lucida Sans Unicode"/>
                <a:cs typeface="Lucida Sans Unicode"/>
              </a:rPr>
              <a:t>elit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mauris.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70">
                <a:solidFill>
                  <a:srgbClr val="4E4F2E"/>
                </a:solidFill>
                <a:latin typeface="Lucida Sans Unicode"/>
                <a:cs typeface="Lucida Sans Unicode"/>
              </a:rPr>
              <a:t>Cras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euismod,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70">
                <a:solidFill>
                  <a:srgbClr val="4E4F2E"/>
                </a:solidFill>
                <a:latin typeface="Lucida Sans Unicode"/>
                <a:cs typeface="Lucida Sans Unicode"/>
              </a:rPr>
              <a:t>metus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235">
                <a:solidFill>
                  <a:srgbClr val="4E4F2E"/>
                </a:solidFill>
                <a:latin typeface="Lucida Sans Unicode"/>
                <a:cs typeface="Lucida Sans Unicode"/>
              </a:rPr>
              <a:t>ac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4E4F2E"/>
                </a:solidFill>
                <a:latin typeface="Lucida Sans Unicode"/>
                <a:cs typeface="Lucida Sans Unicode"/>
              </a:rPr>
              <a:t>finibus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50">
                <a:solidFill>
                  <a:srgbClr val="4E4F2E"/>
                </a:solidFill>
                <a:latin typeface="Lucida Sans Unicode"/>
                <a:cs typeface="Lucida Sans Unicode"/>
              </a:rPr>
              <a:t>finibus,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4E4F2E"/>
                </a:solidFill>
                <a:latin typeface="Lucida Sans Unicode"/>
                <a:cs typeface="Lucida Sans Unicode"/>
              </a:rPr>
              <a:t>felis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dui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suscipit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4E4F2E"/>
                </a:solidFill>
                <a:latin typeface="Lucida Sans Unicode"/>
                <a:cs typeface="Lucida Sans Unicode"/>
              </a:rPr>
              <a:t>purus,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265">
                <a:solidFill>
                  <a:srgbClr val="4E4F2E"/>
                </a:solidFill>
                <a:latin typeface="Lucida Sans Unicode"/>
                <a:cs typeface="Lucida Sans Unicode"/>
              </a:rPr>
              <a:t>a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maximus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leo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ligula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14">
                <a:solidFill>
                  <a:srgbClr val="4E4F2E"/>
                </a:solidFill>
                <a:latin typeface="Lucida Sans Unicode"/>
                <a:cs typeface="Lucida Sans Unicode"/>
              </a:rPr>
              <a:t>at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4E4F2E"/>
                </a:solidFill>
                <a:latin typeface="Lucida Sans Unicode"/>
                <a:cs typeface="Lucida Sans Unicode"/>
              </a:rPr>
              <a:t>dolor.</a:t>
            </a:r>
            <a:endParaRPr sz="2300">
              <a:latin typeface="Lucida Sans Unicode"/>
              <a:cs typeface="Lucida Sans Unicode"/>
            </a:endParaRPr>
          </a:p>
          <a:p>
            <a:pPr algn="ctr">
              <a:lnSpc>
                <a:spcPts val="2485"/>
              </a:lnSpc>
            </a:pP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Morbi</a:t>
            </a:r>
            <a:r>
              <a:rPr dirty="0" sz="230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et</a:t>
            </a:r>
            <a:r>
              <a:rPr dirty="0" sz="230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30">
                <a:solidFill>
                  <a:srgbClr val="4E4F2E"/>
                </a:solidFill>
                <a:latin typeface="Lucida Sans Unicode"/>
                <a:cs typeface="Lucida Sans Unicode"/>
              </a:rPr>
              <a:t>malesuada</a:t>
            </a:r>
            <a:r>
              <a:rPr dirty="0" sz="230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0">
                <a:solidFill>
                  <a:srgbClr val="4E4F2E"/>
                </a:solidFill>
                <a:latin typeface="Lucida Sans Unicode"/>
                <a:cs typeface="Lucida Sans Unicode"/>
              </a:rPr>
              <a:t>purus.</a:t>
            </a:r>
            <a:r>
              <a:rPr dirty="0" sz="230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Phasellus</a:t>
            </a:r>
            <a:r>
              <a:rPr dirty="0" sz="230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265">
                <a:solidFill>
                  <a:srgbClr val="4E4F2E"/>
                </a:solidFill>
                <a:latin typeface="Lucida Sans Unicode"/>
                <a:cs typeface="Lucida Sans Unicode"/>
              </a:rPr>
              <a:t>a</a:t>
            </a:r>
            <a:r>
              <a:rPr dirty="0" sz="230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85">
                <a:solidFill>
                  <a:srgbClr val="4E4F2E"/>
                </a:solidFill>
                <a:latin typeface="Lucida Sans Unicode"/>
                <a:cs typeface="Lucida Sans Unicode"/>
              </a:rPr>
              <a:t>lacus</a:t>
            </a:r>
            <a:r>
              <a:rPr dirty="0" sz="230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5">
                <a:solidFill>
                  <a:srgbClr val="4E4F2E"/>
                </a:solidFill>
                <a:latin typeface="Lucida Sans Unicode"/>
                <a:cs typeface="Lucida Sans Unicode"/>
              </a:rPr>
              <a:t>sit</a:t>
            </a:r>
            <a:r>
              <a:rPr dirty="0" sz="230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40">
                <a:solidFill>
                  <a:srgbClr val="4E4F2E"/>
                </a:solidFill>
                <a:latin typeface="Lucida Sans Unicode"/>
                <a:cs typeface="Lucida Sans Unicode"/>
              </a:rPr>
              <a:t>amet</a:t>
            </a:r>
            <a:r>
              <a:rPr dirty="0" sz="230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60">
                <a:solidFill>
                  <a:srgbClr val="4E4F2E"/>
                </a:solidFill>
                <a:latin typeface="Lucida Sans Unicode"/>
                <a:cs typeface="Lucida Sans Unicode"/>
              </a:rPr>
              <a:t>urna</a:t>
            </a:r>
            <a:r>
              <a:rPr dirty="0" sz="230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60">
                <a:solidFill>
                  <a:srgbClr val="4E4F2E"/>
                </a:solidFill>
                <a:latin typeface="Lucida Sans Unicode"/>
                <a:cs typeface="Lucida Sans Unicode"/>
              </a:rPr>
              <a:t>tempor</a:t>
            </a:r>
            <a:r>
              <a:rPr dirty="0" sz="230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30">
                <a:solidFill>
                  <a:srgbClr val="4E4F2E"/>
                </a:solidFill>
                <a:latin typeface="Lucida Sans Unicode"/>
                <a:cs typeface="Lucida Sans Unicode"/>
              </a:rPr>
              <a:t>sollicitudin.</a:t>
            </a:r>
            <a:r>
              <a:rPr dirty="0" sz="230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90">
                <a:solidFill>
                  <a:srgbClr val="4E4F2E"/>
                </a:solidFill>
                <a:latin typeface="Lucida Sans Unicode"/>
                <a:cs typeface="Lucida Sans Unicode"/>
              </a:rPr>
              <a:t>Cras</a:t>
            </a:r>
            <a:r>
              <a:rPr dirty="0" sz="230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4E4F2E"/>
                </a:solidFill>
                <a:latin typeface="Lucida Sans Unicode"/>
                <a:cs typeface="Lucida Sans Unicode"/>
              </a:rPr>
              <a:t>pretium</a:t>
            </a:r>
            <a:endParaRPr sz="2300">
              <a:latin typeface="Lucida Sans Unicode"/>
              <a:cs typeface="Lucida Sans Unicode"/>
            </a:endParaRPr>
          </a:p>
          <a:p>
            <a:pPr algn="ctr" marL="12700" marR="5080">
              <a:lnSpc>
                <a:spcPts val="2630"/>
              </a:lnSpc>
              <a:spcBef>
                <a:spcPts val="125"/>
              </a:spcBef>
            </a:pPr>
            <a:r>
              <a:rPr dirty="0" sz="2300" spc="60">
                <a:solidFill>
                  <a:srgbClr val="4E4F2E"/>
                </a:solidFill>
                <a:latin typeface="Lucida Sans Unicode"/>
                <a:cs typeface="Lucida Sans Unicode"/>
              </a:rPr>
              <a:t>tempor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0">
                <a:solidFill>
                  <a:srgbClr val="4E4F2E"/>
                </a:solidFill>
                <a:latin typeface="Lucida Sans Unicode"/>
                <a:cs typeface="Lucida Sans Unicode"/>
              </a:rPr>
              <a:t>elit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blandit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45">
                <a:solidFill>
                  <a:srgbClr val="4E4F2E"/>
                </a:solidFill>
                <a:latin typeface="Lucida Sans Unicode"/>
                <a:cs typeface="Lucida Sans Unicode"/>
              </a:rPr>
              <a:t>egestas.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60">
                <a:solidFill>
                  <a:srgbClr val="4E4F2E"/>
                </a:solidFill>
                <a:latin typeface="Lucida Sans Unicode"/>
                <a:cs typeface="Lucida Sans Unicode"/>
              </a:rPr>
              <a:t>Donec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80">
                <a:solidFill>
                  <a:srgbClr val="4E4F2E"/>
                </a:solidFill>
                <a:latin typeface="Lucida Sans Unicode"/>
                <a:cs typeface="Lucida Sans Unicode"/>
              </a:rPr>
              <a:t>sed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dignissim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0">
                <a:solidFill>
                  <a:srgbClr val="4E4F2E"/>
                </a:solidFill>
                <a:latin typeface="Lucida Sans Unicode"/>
                <a:cs typeface="Lucida Sans Unicode"/>
              </a:rPr>
              <a:t>augue.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0">
                <a:solidFill>
                  <a:srgbClr val="4E4F2E"/>
                </a:solidFill>
                <a:latin typeface="Lucida Sans Unicode"/>
                <a:cs typeface="Lucida Sans Unicode"/>
              </a:rPr>
              <a:t>Suspendisse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235">
                <a:solidFill>
                  <a:srgbClr val="4E4F2E"/>
                </a:solidFill>
                <a:latin typeface="Lucida Sans Unicode"/>
                <a:cs typeface="Lucida Sans Unicode"/>
              </a:rPr>
              <a:t>ac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50">
                <a:solidFill>
                  <a:srgbClr val="4E4F2E"/>
                </a:solidFill>
                <a:latin typeface="Lucida Sans Unicode"/>
                <a:cs typeface="Lucida Sans Unicode"/>
              </a:rPr>
              <a:t>vulputate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45">
                <a:solidFill>
                  <a:srgbClr val="4E4F2E"/>
                </a:solidFill>
                <a:latin typeface="Lucida Sans Unicode"/>
                <a:cs typeface="Lucida Sans Unicode"/>
              </a:rPr>
              <a:t>leo.</a:t>
            </a:r>
            <a:r>
              <a:rPr dirty="0" sz="230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70">
                <a:solidFill>
                  <a:srgbClr val="4E4F2E"/>
                </a:solidFill>
                <a:latin typeface="Lucida Sans Unicode"/>
                <a:cs typeface="Lucida Sans Unicode"/>
              </a:rPr>
              <a:t>Cras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aliquet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80">
                <a:solidFill>
                  <a:srgbClr val="4E4F2E"/>
                </a:solidFill>
                <a:latin typeface="Lucida Sans Unicode"/>
                <a:cs typeface="Lucida Sans Unicode"/>
              </a:rPr>
              <a:t>nunc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235">
                <a:solidFill>
                  <a:srgbClr val="4E4F2E"/>
                </a:solidFill>
                <a:latin typeface="Lucida Sans Unicode"/>
                <a:cs typeface="Lucida Sans Unicode"/>
              </a:rPr>
              <a:t>ac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velit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cursus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viverra.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>
                <a:solidFill>
                  <a:srgbClr val="4E4F2E"/>
                </a:solidFill>
                <a:latin typeface="Lucida Sans Unicode"/>
                <a:cs typeface="Lucida Sans Unicode"/>
              </a:rPr>
              <a:t>In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70">
                <a:solidFill>
                  <a:srgbClr val="4E4F2E"/>
                </a:solidFill>
                <a:latin typeface="Lucida Sans Unicode"/>
                <a:cs typeface="Lucida Sans Unicode"/>
              </a:rPr>
              <a:t>hac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75">
                <a:solidFill>
                  <a:srgbClr val="4E4F2E"/>
                </a:solidFill>
                <a:latin typeface="Lucida Sans Unicode"/>
                <a:cs typeface="Lucida Sans Unicode"/>
              </a:rPr>
              <a:t>habitasse</a:t>
            </a:r>
            <a:r>
              <a:rPr dirty="0" sz="230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100">
                <a:solidFill>
                  <a:srgbClr val="4E4F2E"/>
                </a:solidFill>
                <a:latin typeface="Lucida Sans Unicode"/>
                <a:cs typeface="Lucida Sans Unicode"/>
              </a:rPr>
              <a:t>platea</a:t>
            </a:r>
            <a:r>
              <a:rPr dirty="0" sz="230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4E4F2E"/>
                </a:solidFill>
                <a:latin typeface="Lucida Sans Unicode"/>
                <a:cs typeface="Lucida Sans Unicode"/>
              </a:rPr>
              <a:t>dictumst.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469" y="1316424"/>
            <a:ext cx="4829174" cy="8667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363" y="2317426"/>
            <a:ext cx="102520" cy="10252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363" y="3124775"/>
            <a:ext cx="102520" cy="10252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5363" y="3932124"/>
            <a:ext cx="102520" cy="10252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5363" y="5143148"/>
            <a:ext cx="102520" cy="10252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544971" y="1552006"/>
            <a:ext cx="4972685" cy="46170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5715">
              <a:lnSpc>
                <a:spcPct val="100000"/>
              </a:lnSpc>
              <a:spcBef>
                <a:spcPts val="120"/>
              </a:spcBef>
            </a:pPr>
            <a:r>
              <a:rPr dirty="0" sz="2350" spc="70" b="1">
                <a:latin typeface="Tahoma"/>
                <a:cs typeface="Tahoma"/>
              </a:rPr>
              <a:t>TUJUAN</a:t>
            </a:r>
            <a:endParaRPr sz="2350">
              <a:latin typeface="Tahoma"/>
              <a:cs typeface="Tahoma"/>
            </a:endParaRPr>
          </a:p>
          <a:p>
            <a:pPr algn="ctr" marL="103505" marR="95885" indent="-635">
              <a:lnSpc>
                <a:spcPct val="117700"/>
              </a:lnSpc>
              <a:spcBef>
                <a:spcPts val="1520"/>
              </a:spcBef>
            </a:pPr>
            <a:r>
              <a:rPr dirty="0" sz="2250" spc="-35">
                <a:latin typeface="Lucida Sans Unicode"/>
                <a:cs typeface="Lucida Sans Unicode"/>
              </a:rPr>
              <a:t>Menganalisis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cara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-35">
                <a:latin typeface="Lucida Sans Unicode"/>
                <a:cs typeface="Lucida Sans Unicode"/>
              </a:rPr>
              <a:t>kerja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-25">
                <a:latin typeface="Lucida Sans Unicode"/>
                <a:cs typeface="Lucida Sans Unicode"/>
              </a:rPr>
              <a:t>dan </a:t>
            </a:r>
            <a:r>
              <a:rPr dirty="0" sz="2250">
                <a:latin typeface="Lucida Sans Unicode"/>
                <a:cs typeface="Lucida Sans Unicode"/>
              </a:rPr>
              <a:t>keamanan</a:t>
            </a:r>
            <a:r>
              <a:rPr dirty="0" sz="2250" spc="-130">
                <a:latin typeface="Lucida Sans Unicode"/>
                <a:cs typeface="Lucida Sans Unicode"/>
              </a:rPr>
              <a:t> </a:t>
            </a:r>
            <a:r>
              <a:rPr dirty="0" sz="2250" spc="-35">
                <a:latin typeface="Lucida Sans Unicode"/>
                <a:cs typeface="Lucida Sans Unicode"/>
              </a:rPr>
              <a:t>algoritma</a:t>
            </a:r>
            <a:r>
              <a:rPr dirty="0" sz="2250" spc="-130">
                <a:latin typeface="Lucida Sans Unicode"/>
                <a:cs typeface="Lucida Sans Unicode"/>
              </a:rPr>
              <a:t> </a:t>
            </a:r>
            <a:r>
              <a:rPr dirty="0" sz="2250" spc="-20">
                <a:latin typeface="Lucida Sans Unicode"/>
                <a:cs typeface="Lucida Sans Unicode"/>
              </a:rPr>
              <a:t>AES. Menjelaskan</a:t>
            </a:r>
            <a:r>
              <a:rPr dirty="0" sz="2250" spc="-125">
                <a:latin typeface="Lucida Sans Unicode"/>
                <a:cs typeface="Lucida Sans Unicode"/>
              </a:rPr>
              <a:t> </a:t>
            </a:r>
            <a:r>
              <a:rPr dirty="0" sz="2250" spc="-30">
                <a:latin typeface="Lucida Sans Unicode"/>
                <a:cs typeface="Lucida Sans Unicode"/>
              </a:rPr>
              <a:t>konsep</a:t>
            </a:r>
            <a:r>
              <a:rPr dirty="0" sz="2250" spc="-120">
                <a:latin typeface="Lucida Sans Unicode"/>
                <a:cs typeface="Lucida Sans Unicode"/>
              </a:rPr>
              <a:t> </a:t>
            </a:r>
            <a:r>
              <a:rPr dirty="0" sz="2250" spc="-30">
                <a:latin typeface="Lucida Sans Unicode"/>
                <a:cs typeface="Lucida Sans Unicode"/>
              </a:rPr>
              <a:t>priority</a:t>
            </a:r>
            <a:r>
              <a:rPr dirty="0" sz="2250" spc="-12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queue </a:t>
            </a:r>
            <a:r>
              <a:rPr dirty="0" sz="2250">
                <a:latin typeface="Lucida Sans Unicode"/>
                <a:cs typeface="Lucida Sans Unicode"/>
              </a:rPr>
              <a:t>dan</a:t>
            </a:r>
            <a:r>
              <a:rPr dirty="0" sz="2250" spc="-12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penerapannya.</a:t>
            </a:r>
            <a:endParaRPr sz="2250">
              <a:latin typeface="Lucida Sans Unicode"/>
              <a:cs typeface="Lucida Sans Unicode"/>
            </a:endParaRPr>
          </a:p>
          <a:p>
            <a:pPr algn="ctr" marL="12700" marR="5080">
              <a:lnSpc>
                <a:spcPct val="117700"/>
              </a:lnSpc>
            </a:pPr>
            <a:r>
              <a:rPr dirty="0" sz="2250" spc="-20">
                <a:latin typeface="Lucida Sans Unicode"/>
                <a:cs typeface="Lucida Sans Unicode"/>
              </a:rPr>
              <a:t>Menjelaskan</a:t>
            </a:r>
            <a:r>
              <a:rPr dirty="0" sz="2250" spc="-110">
                <a:latin typeface="Lucida Sans Unicode"/>
                <a:cs typeface="Lucida Sans Unicode"/>
              </a:rPr>
              <a:t> </a:t>
            </a:r>
            <a:r>
              <a:rPr dirty="0" sz="2250" spc="-45">
                <a:latin typeface="Lucida Sans Unicode"/>
                <a:cs typeface="Lucida Sans Unicode"/>
              </a:rPr>
              <a:t>integrasi</a:t>
            </a:r>
            <a:r>
              <a:rPr dirty="0" sz="2250" spc="-105">
                <a:latin typeface="Lucida Sans Unicode"/>
                <a:cs typeface="Lucida Sans Unicode"/>
              </a:rPr>
              <a:t> </a:t>
            </a:r>
            <a:r>
              <a:rPr dirty="0" sz="2250" spc="-30">
                <a:latin typeface="Lucida Sans Unicode"/>
                <a:cs typeface="Lucida Sans Unicode"/>
              </a:rPr>
              <a:t>priority</a:t>
            </a:r>
            <a:r>
              <a:rPr dirty="0" sz="2250" spc="-105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queue </a:t>
            </a:r>
            <a:r>
              <a:rPr dirty="0" sz="2250" spc="-20">
                <a:latin typeface="Lucida Sans Unicode"/>
                <a:cs typeface="Lucida Sans Unicode"/>
              </a:rPr>
              <a:t>dengan</a:t>
            </a:r>
            <a:r>
              <a:rPr dirty="0" sz="2250" spc="-135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AES</a:t>
            </a:r>
            <a:r>
              <a:rPr dirty="0" sz="2250" spc="-130">
                <a:latin typeface="Lucida Sans Unicode"/>
                <a:cs typeface="Lucida Sans Unicode"/>
              </a:rPr>
              <a:t> </a:t>
            </a:r>
            <a:r>
              <a:rPr dirty="0" sz="2250" spc="-30">
                <a:latin typeface="Lucida Sans Unicode"/>
                <a:cs typeface="Lucida Sans Unicode"/>
              </a:rPr>
              <a:t>untuk</a:t>
            </a:r>
            <a:r>
              <a:rPr dirty="0" sz="2250" spc="-130">
                <a:latin typeface="Lucida Sans Unicode"/>
                <a:cs typeface="Lucida Sans Unicode"/>
              </a:rPr>
              <a:t> </a:t>
            </a:r>
            <a:r>
              <a:rPr dirty="0" sz="2250" spc="-45">
                <a:latin typeface="Lucida Sans Unicode"/>
                <a:cs typeface="Lucida Sans Unicode"/>
              </a:rPr>
              <a:t>optimisasi</a:t>
            </a:r>
            <a:r>
              <a:rPr dirty="0" sz="2250" spc="-13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proses enkripsi.</a:t>
            </a:r>
            <a:endParaRPr sz="2250">
              <a:latin typeface="Lucida Sans Unicode"/>
              <a:cs typeface="Lucida Sans Unicode"/>
            </a:endParaRPr>
          </a:p>
          <a:p>
            <a:pPr algn="ctr" marL="178435" marR="170815">
              <a:lnSpc>
                <a:spcPct val="117700"/>
              </a:lnSpc>
            </a:pPr>
            <a:r>
              <a:rPr dirty="0" sz="2250" spc="-40">
                <a:latin typeface="Lucida Sans Unicode"/>
                <a:cs typeface="Lucida Sans Unicode"/>
              </a:rPr>
              <a:t>Mengidentifikasi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manfaat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serta </a:t>
            </a:r>
            <a:r>
              <a:rPr dirty="0" sz="2250" spc="-30">
                <a:latin typeface="Lucida Sans Unicode"/>
                <a:cs typeface="Lucida Sans Unicode"/>
              </a:rPr>
              <a:t>peluang</a:t>
            </a:r>
            <a:r>
              <a:rPr dirty="0" sz="2250" spc="-120">
                <a:latin typeface="Lucida Sans Unicode"/>
                <a:cs typeface="Lucida Sans Unicode"/>
              </a:rPr>
              <a:t> </a:t>
            </a:r>
            <a:r>
              <a:rPr dirty="0" sz="2250" spc="-25">
                <a:latin typeface="Lucida Sans Unicode"/>
                <a:cs typeface="Lucida Sans Unicode"/>
              </a:rPr>
              <a:t>penelitian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-25">
                <a:latin typeface="Lucida Sans Unicode"/>
                <a:cs typeface="Lucida Sans Unicode"/>
              </a:rPr>
              <a:t>lanjutan</a:t>
            </a:r>
            <a:r>
              <a:rPr dirty="0" sz="2250" spc="-114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dalam </a:t>
            </a:r>
            <a:r>
              <a:rPr dirty="0" sz="2250">
                <a:latin typeface="Lucida Sans Unicode"/>
                <a:cs typeface="Lucida Sans Unicode"/>
              </a:rPr>
              <a:t>keamanan</a:t>
            </a:r>
            <a:r>
              <a:rPr dirty="0" sz="2250" spc="-140">
                <a:latin typeface="Lucida Sans Unicode"/>
                <a:cs typeface="Lucida Sans Unicode"/>
              </a:rPr>
              <a:t> </a:t>
            </a:r>
            <a:r>
              <a:rPr dirty="0" sz="2250">
                <a:latin typeface="Lucida Sans Unicode"/>
                <a:cs typeface="Lucida Sans Unicode"/>
              </a:rPr>
              <a:t>data</a:t>
            </a:r>
            <a:r>
              <a:rPr dirty="0" sz="2250" spc="-140">
                <a:latin typeface="Lucida Sans Unicode"/>
                <a:cs typeface="Lucida Sans Unicode"/>
              </a:rPr>
              <a:t> </a:t>
            </a:r>
            <a:r>
              <a:rPr dirty="0" sz="2250" spc="-10">
                <a:latin typeface="Lucida Sans Unicode"/>
                <a:cs typeface="Lucida Sans Unicode"/>
              </a:rPr>
              <a:t>digital.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469" y="1316424"/>
            <a:ext cx="4829174" cy="8667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60975" y="1450478"/>
            <a:ext cx="3832860" cy="4673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90" b="0">
                <a:latin typeface="Lucida Sans Unicode"/>
                <a:cs typeface="Lucida Sans Unicode"/>
              </a:rPr>
              <a:t>Apa</a:t>
            </a:r>
            <a:r>
              <a:rPr dirty="0" sz="2900" spc="-160" b="0">
                <a:latin typeface="Lucida Sans Unicode"/>
                <a:cs typeface="Lucida Sans Unicode"/>
              </a:rPr>
              <a:t> </a:t>
            </a:r>
            <a:r>
              <a:rPr dirty="0" sz="2900" spc="-45" b="0">
                <a:latin typeface="Lucida Sans Unicode"/>
                <a:cs typeface="Lucida Sans Unicode"/>
              </a:rPr>
              <a:t>Itu</a:t>
            </a:r>
            <a:r>
              <a:rPr dirty="0" sz="2900" spc="-155" b="0">
                <a:latin typeface="Lucida Sans Unicode"/>
                <a:cs typeface="Lucida Sans Unicode"/>
              </a:rPr>
              <a:t> </a:t>
            </a:r>
            <a:r>
              <a:rPr dirty="0" sz="2900" spc="-40" b="0">
                <a:latin typeface="Lucida Sans Unicode"/>
                <a:cs typeface="Lucida Sans Unicode"/>
              </a:rPr>
              <a:t>Priority</a:t>
            </a:r>
            <a:r>
              <a:rPr dirty="0" sz="2900" spc="-160" b="0">
                <a:latin typeface="Lucida Sans Unicode"/>
                <a:cs typeface="Lucida Sans Unicode"/>
              </a:rPr>
              <a:t> </a:t>
            </a:r>
            <a:r>
              <a:rPr dirty="0" sz="2900" spc="-10" b="0">
                <a:latin typeface="Lucida Sans Unicode"/>
                <a:cs typeface="Lucida Sans Unicode"/>
              </a:rPr>
              <a:t>Queue</a:t>
            </a:r>
            <a:endParaRPr sz="2900">
              <a:latin typeface="Lucida Sans Unicode"/>
              <a:cs typeface="Lucida Sans Unicode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4362" y="5703320"/>
            <a:ext cx="104775" cy="1047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4362" y="6560570"/>
            <a:ext cx="104775" cy="1047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4362" y="7417820"/>
            <a:ext cx="104775" cy="10477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58667" y="2256763"/>
            <a:ext cx="8687435" cy="5826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800" spc="-35">
                <a:latin typeface="Lucida Sans Unicode"/>
                <a:cs typeface="Lucida Sans Unicode"/>
              </a:rPr>
              <a:t>Priority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Queue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35">
                <a:latin typeface="Lucida Sans Unicode"/>
                <a:cs typeface="Lucida Sans Unicode"/>
              </a:rPr>
              <a:t>adalah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75">
                <a:latin typeface="Lucida Sans Unicode"/>
                <a:cs typeface="Lucida Sans Unicode"/>
              </a:rPr>
              <a:t>struktur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25">
                <a:latin typeface="Lucida Sans Unicode"/>
                <a:cs typeface="Lucida Sans Unicode"/>
              </a:rPr>
              <a:t>data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65">
                <a:latin typeface="Lucida Sans Unicode"/>
                <a:cs typeface="Lucida Sans Unicode"/>
              </a:rPr>
              <a:t>berbasis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antrian </a:t>
            </a:r>
            <a:r>
              <a:rPr dirty="0" sz="2800" spc="-45">
                <a:latin typeface="Lucida Sans Unicode"/>
                <a:cs typeface="Lucida Sans Unicode"/>
              </a:rPr>
              <a:t>(queue)</a:t>
            </a:r>
            <a:r>
              <a:rPr dirty="0" sz="2800" spc="-180">
                <a:latin typeface="Lucida Sans Unicode"/>
                <a:cs typeface="Lucida Sans Unicode"/>
              </a:rPr>
              <a:t> </a:t>
            </a:r>
            <a:r>
              <a:rPr dirty="0" sz="2800" spc="-85">
                <a:latin typeface="Lucida Sans Unicode"/>
                <a:cs typeface="Lucida Sans Unicode"/>
              </a:rPr>
              <a:t>di</a:t>
            </a:r>
            <a:r>
              <a:rPr dirty="0" sz="2800" spc="-160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mana</a:t>
            </a:r>
            <a:r>
              <a:rPr dirty="0" sz="2800" spc="-180">
                <a:latin typeface="Lucida Sans Unicode"/>
                <a:cs typeface="Lucida Sans Unicode"/>
              </a:rPr>
              <a:t> </a:t>
            </a:r>
            <a:r>
              <a:rPr dirty="0" sz="2800" spc="-55">
                <a:latin typeface="Lucida Sans Unicode"/>
                <a:cs typeface="Lucida Sans Unicode"/>
              </a:rPr>
              <a:t>setiap</a:t>
            </a:r>
            <a:r>
              <a:rPr dirty="0" sz="2800" spc="-165">
                <a:latin typeface="Lucida Sans Unicode"/>
                <a:cs typeface="Lucida Sans Unicode"/>
              </a:rPr>
              <a:t> </a:t>
            </a:r>
            <a:r>
              <a:rPr dirty="0" sz="2800" spc="-30">
                <a:latin typeface="Lucida Sans Unicode"/>
                <a:cs typeface="Lucida Sans Unicode"/>
              </a:rPr>
              <a:t>elemen</a:t>
            </a:r>
            <a:r>
              <a:rPr dirty="0" sz="2800" spc="-170">
                <a:latin typeface="Lucida Sans Unicode"/>
                <a:cs typeface="Lucida Sans Unicode"/>
              </a:rPr>
              <a:t> </a:t>
            </a:r>
            <a:r>
              <a:rPr dirty="0" sz="2800" spc="-85">
                <a:latin typeface="Lucida Sans Unicode"/>
                <a:cs typeface="Lucida Sans Unicode"/>
              </a:rPr>
              <a:t>memiliki</a:t>
            </a:r>
            <a:r>
              <a:rPr dirty="0" sz="2800" spc="-160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tingkat </a:t>
            </a:r>
            <a:r>
              <a:rPr dirty="0" sz="2800" spc="-70">
                <a:latin typeface="Lucida Sans Unicode"/>
                <a:cs typeface="Lucida Sans Unicode"/>
              </a:rPr>
              <a:t>prioritas.</a:t>
            </a:r>
            <a:r>
              <a:rPr dirty="0" sz="2800" spc="-114">
                <a:latin typeface="Lucida Sans Unicode"/>
                <a:cs typeface="Lucida Sans Unicode"/>
              </a:rPr>
              <a:t> </a:t>
            </a:r>
            <a:r>
              <a:rPr dirty="0" sz="2800" spc="-25">
                <a:latin typeface="Lucida Sans Unicode"/>
                <a:cs typeface="Lucida Sans Unicode"/>
              </a:rPr>
              <a:t>Elemen</a:t>
            </a:r>
            <a:r>
              <a:rPr dirty="0" sz="2800" spc="-114">
                <a:latin typeface="Lucida Sans Unicode"/>
                <a:cs typeface="Lucida Sans Unicode"/>
              </a:rPr>
              <a:t> </a:t>
            </a:r>
            <a:r>
              <a:rPr dirty="0" sz="2800" spc="-70">
                <a:latin typeface="Lucida Sans Unicode"/>
                <a:cs typeface="Lucida Sans Unicode"/>
              </a:rPr>
              <a:t>dengan</a:t>
            </a:r>
            <a:r>
              <a:rPr dirty="0" sz="2800" spc="-114">
                <a:latin typeface="Lucida Sans Unicode"/>
                <a:cs typeface="Lucida Sans Unicode"/>
              </a:rPr>
              <a:t> </a:t>
            </a:r>
            <a:r>
              <a:rPr dirty="0" sz="2800" spc="-65">
                <a:latin typeface="Lucida Sans Unicode"/>
                <a:cs typeface="Lucida Sans Unicode"/>
              </a:rPr>
              <a:t>prioritas</a:t>
            </a:r>
            <a:r>
              <a:rPr dirty="0" sz="2800" spc="-114">
                <a:latin typeface="Lucida Sans Unicode"/>
                <a:cs typeface="Lucida Sans Unicode"/>
              </a:rPr>
              <a:t> </a:t>
            </a:r>
            <a:r>
              <a:rPr dirty="0" sz="2800" spc="-105">
                <a:latin typeface="Lucida Sans Unicode"/>
                <a:cs typeface="Lucida Sans Unicode"/>
              </a:rPr>
              <a:t>tertinggi</a:t>
            </a:r>
            <a:r>
              <a:rPr dirty="0" sz="2800" spc="-110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diproses </a:t>
            </a:r>
            <a:r>
              <a:rPr dirty="0" sz="2800" spc="-50">
                <a:latin typeface="Lucida Sans Unicode"/>
                <a:cs typeface="Lucida Sans Unicode"/>
              </a:rPr>
              <a:t>terlebih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80">
                <a:latin typeface="Lucida Sans Unicode"/>
                <a:cs typeface="Lucida Sans Unicode"/>
              </a:rPr>
              <a:t>dahulu,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70">
                <a:latin typeface="Lucida Sans Unicode"/>
                <a:cs typeface="Lucida Sans Unicode"/>
              </a:rPr>
              <a:t>bukan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45">
                <a:latin typeface="Lucida Sans Unicode"/>
                <a:cs typeface="Lucida Sans Unicode"/>
              </a:rPr>
              <a:t>berdasarkan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30">
                <a:latin typeface="Lucida Sans Unicode"/>
                <a:cs typeface="Lucida Sans Unicode"/>
              </a:rPr>
              <a:t>urutan</a:t>
            </a:r>
            <a:r>
              <a:rPr dirty="0" sz="2800" spc="-140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masuk.</a:t>
            </a:r>
            <a:endParaRPr sz="2800">
              <a:latin typeface="Lucida Sans Unicode"/>
              <a:cs typeface="Lucida Sans Unicode"/>
            </a:endParaRPr>
          </a:p>
          <a:p>
            <a:pPr algn="ctr" marL="92075">
              <a:lnSpc>
                <a:spcPct val="100000"/>
              </a:lnSpc>
              <a:spcBef>
                <a:spcPts val="540"/>
              </a:spcBef>
            </a:pPr>
            <a:r>
              <a:rPr dirty="0" sz="2800" spc="-20">
                <a:latin typeface="Lucida Sans Unicode"/>
                <a:cs typeface="Lucida Sans Unicode"/>
              </a:rPr>
              <a:t>Biasanya</a:t>
            </a:r>
            <a:r>
              <a:rPr dirty="0" sz="2800" spc="-125">
                <a:latin typeface="Lucida Sans Unicode"/>
                <a:cs typeface="Lucida Sans Unicode"/>
              </a:rPr>
              <a:t> </a:t>
            </a:r>
            <a:r>
              <a:rPr dirty="0" sz="2800" spc="-65">
                <a:latin typeface="Lucida Sans Unicode"/>
                <a:cs typeface="Lucida Sans Unicode"/>
              </a:rPr>
              <a:t>diimplementasikan</a:t>
            </a:r>
            <a:r>
              <a:rPr dirty="0" sz="2800" spc="-125">
                <a:latin typeface="Lucida Sans Unicode"/>
                <a:cs typeface="Lucida Sans Unicode"/>
              </a:rPr>
              <a:t> </a:t>
            </a:r>
            <a:r>
              <a:rPr dirty="0" sz="2800" spc="-80">
                <a:latin typeface="Lucida Sans Unicode"/>
                <a:cs typeface="Lucida Sans Unicode"/>
              </a:rPr>
              <a:t>menggunakan</a:t>
            </a:r>
            <a:r>
              <a:rPr dirty="0" sz="2800" spc="-120">
                <a:latin typeface="Lucida Sans Unicode"/>
                <a:cs typeface="Lucida Sans Unicode"/>
              </a:rPr>
              <a:t> </a:t>
            </a:r>
            <a:r>
              <a:rPr dirty="0" sz="2800" spc="-10">
                <a:latin typeface="Lucida Sans Unicode"/>
                <a:cs typeface="Lucida Sans Unicode"/>
              </a:rPr>
              <a:t>heap.</a:t>
            </a:r>
            <a:endParaRPr sz="2800">
              <a:latin typeface="Lucida Sans Unicode"/>
              <a:cs typeface="Lucida Sans Unicode"/>
            </a:endParaRPr>
          </a:p>
          <a:p>
            <a:pPr algn="ctr" marR="1149350">
              <a:lnSpc>
                <a:spcPct val="100000"/>
              </a:lnSpc>
              <a:spcBef>
                <a:spcPts val="3035"/>
              </a:spcBef>
            </a:pPr>
            <a:r>
              <a:rPr dirty="0" sz="2400" spc="-10">
                <a:latin typeface="Lucida Sans Unicode"/>
                <a:cs typeface="Lucida Sans Unicode"/>
              </a:rPr>
              <a:t>Contoh:</a:t>
            </a:r>
            <a:endParaRPr sz="2400">
              <a:latin typeface="Lucida Sans Unicode"/>
              <a:cs typeface="Lucida Sans Unicode"/>
            </a:endParaRPr>
          </a:p>
          <a:p>
            <a:pPr algn="ctr" marL="499109" marR="1126490">
              <a:lnSpc>
                <a:spcPct val="117200"/>
              </a:lnSpc>
            </a:pPr>
            <a:r>
              <a:rPr dirty="0" sz="2400" spc="-30">
                <a:latin typeface="Lucida Sans Unicode"/>
                <a:cs typeface="Lucida Sans Unicode"/>
              </a:rPr>
              <a:t>Sistem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25">
                <a:latin typeface="Lucida Sans Unicode"/>
                <a:cs typeface="Lucida Sans Unicode"/>
              </a:rPr>
              <a:t>antrian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rumah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90">
                <a:latin typeface="Lucida Sans Unicode"/>
                <a:cs typeface="Lucida Sans Unicode"/>
              </a:rPr>
              <a:t>sakit: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35">
                <a:latin typeface="Lucida Sans Unicode"/>
                <a:cs typeface="Lucida Sans Unicode"/>
              </a:rPr>
              <a:t>pasien</a:t>
            </a:r>
            <a:r>
              <a:rPr dirty="0" sz="2400" spc="-135">
                <a:latin typeface="Lucida Sans Unicode"/>
                <a:cs typeface="Lucida Sans Unicode"/>
              </a:rPr>
              <a:t> </a:t>
            </a:r>
            <a:r>
              <a:rPr dirty="0" sz="2400" spc="-40">
                <a:latin typeface="Lucida Sans Unicode"/>
                <a:cs typeface="Lucida Sans Unicode"/>
              </a:rPr>
              <a:t>gawat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darurat </a:t>
            </a:r>
            <a:r>
              <a:rPr dirty="0" sz="2400" spc="-45">
                <a:latin typeface="Lucida Sans Unicode"/>
                <a:cs typeface="Lucida Sans Unicode"/>
              </a:rPr>
              <a:t>dilayani</a:t>
            </a:r>
            <a:r>
              <a:rPr dirty="0" sz="2400" spc="-145">
                <a:latin typeface="Lucida Sans Unicode"/>
                <a:cs typeface="Lucida Sans Unicode"/>
              </a:rPr>
              <a:t> </a:t>
            </a:r>
            <a:r>
              <a:rPr dirty="0" sz="2400" spc="-45">
                <a:latin typeface="Lucida Sans Unicode"/>
                <a:cs typeface="Lucida Sans Unicode"/>
              </a:rPr>
              <a:t>lebih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dulu.</a:t>
            </a:r>
            <a:endParaRPr sz="2400">
              <a:latin typeface="Lucida Sans Unicode"/>
              <a:cs typeface="Lucida Sans Unicode"/>
            </a:endParaRPr>
          </a:p>
          <a:p>
            <a:pPr algn="ctr" marL="721995" marR="1349375">
              <a:lnSpc>
                <a:spcPct val="117200"/>
              </a:lnSpc>
            </a:pPr>
            <a:r>
              <a:rPr dirty="0" sz="2400" spc="-10">
                <a:latin typeface="Lucida Sans Unicode"/>
                <a:cs typeface="Lucida Sans Unicode"/>
              </a:rPr>
              <a:t>Penjadwalan</a:t>
            </a:r>
            <a:r>
              <a:rPr dirty="0" sz="2400" spc="-170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proses</a:t>
            </a:r>
            <a:r>
              <a:rPr dirty="0" sz="2400" spc="-155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pada</a:t>
            </a:r>
            <a:r>
              <a:rPr dirty="0" sz="2400" spc="-155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sistem</a:t>
            </a:r>
            <a:r>
              <a:rPr dirty="0" sz="2400" spc="-140">
                <a:latin typeface="Lucida Sans Unicode"/>
                <a:cs typeface="Lucida Sans Unicode"/>
              </a:rPr>
              <a:t> </a:t>
            </a:r>
            <a:r>
              <a:rPr dirty="0" sz="2400" spc="-30">
                <a:latin typeface="Lucida Sans Unicode"/>
                <a:cs typeface="Lucida Sans Unicode"/>
              </a:rPr>
              <a:t>operasi</a:t>
            </a:r>
            <a:r>
              <a:rPr dirty="0" sz="2400" spc="-155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(CPU </a:t>
            </a:r>
            <a:r>
              <a:rPr dirty="0" sz="2400" spc="-10">
                <a:latin typeface="Lucida Sans Unicode"/>
                <a:cs typeface="Lucida Sans Unicode"/>
              </a:rPr>
              <a:t>scheduling).</a:t>
            </a:r>
            <a:endParaRPr sz="2400">
              <a:latin typeface="Lucida Sans Unicode"/>
              <a:cs typeface="Lucida Sans Unicode"/>
            </a:endParaRPr>
          </a:p>
          <a:p>
            <a:pPr algn="ctr" marL="903605" marR="1530985">
              <a:lnSpc>
                <a:spcPct val="117200"/>
              </a:lnSpc>
            </a:pPr>
            <a:r>
              <a:rPr dirty="0" sz="2400" spc="-30">
                <a:latin typeface="Lucida Sans Unicode"/>
                <a:cs typeface="Lucida Sans Unicode"/>
              </a:rPr>
              <a:t>Sistem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 spc="-65">
                <a:latin typeface="Lucida Sans Unicode"/>
                <a:cs typeface="Lucida Sans Unicode"/>
              </a:rPr>
              <a:t>routing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jaringan,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di</a:t>
            </a:r>
            <a:r>
              <a:rPr dirty="0" sz="2400" spc="-120">
                <a:latin typeface="Lucida Sans Unicode"/>
                <a:cs typeface="Lucida Sans Unicode"/>
              </a:rPr>
              <a:t> </a:t>
            </a:r>
            <a:r>
              <a:rPr dirty="0" sz="2400">
                <a:latin typeface="Lucida Sans Unicode"/>
                <a:cs typeface="Lucida Sans Unicode"/>
              </a:rPr>
              <a:t>mana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50">
                <a:latin typeface="Lucida Sans Unicode"/>
                <a:cs typeface="Lucida Sans Unicode"/>
              </a:rPr>
              <a:t>paket</a:t>
            </a:r>
            <a:r>
              <a:rPr dirty="0" sz="2400" spc="-114">
                <a:latin typeface="Lucida Sans Unicode"/>
                <a:cs typeface="Lucida Sans Unicode"/>
              </a:rPr>
              <a:t> </a:t>
            </a:r>
            <a:r>
              <a:rPr dirty="0" sz="2400" spc="-20">
                <a:latin typeface="Lucida Sans Unicode"/>
                <a:cs typeface="Lucida Sans Unicode"/>
              </a:rPr>
              <a:t>data </a:t>
            </a:r>
            <a:r>
              <a:rPr dirty="0" sz="2400" spc="-65">
                <a:latin typeface="Lucida Sans Unicode"/>
                <a:cs typeface="Lucida Sans Unicode"/>
              </a:rPr>
              <a:t>penting</a:t>
            </a:r>
            <a:r>
              <a:rPr dirty="0" sz="2400" spc="-85">
                <a:latin typeface="Lucida Sans Unicode"/>
                <a:cs typeface="Lucida Sans Unicode"/>
              </a:rPr>
              <a:t> </a:t>
            </a:r>
            <a:r>
              <a:rPr dirty="0" sz="2400" spc="-10">
                <a:latin typeface="Lucida Sans Unicode"/>
                <a:cs typeface="Lucida Sans Unicode"/>
              </a:rPr>
              <a:t>diprioritaskan.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469" y="1316424"/>
            <a:ext cx="5029199" cy="9048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759427" y="2807842"/>
            <a:ext cx="16210280" cy="3959860"/>
            <a:chOff x="759427" y="2807842"/>
            <a:chExt cx="16210280" cy="3959860"/>
          </a:xfrm>
        </p:grpSpPr>
        <p:sp>
          <p:nvSpPr>
            <p:cNvPr id="7" name="object 7" descr=""/>
            <p:cNvSpPr/>
            <p:nvPr/>
          </p:nvSpPr>
          <p:spPr>
            <a:xfrm>
              <a:off x="759427" y="2807842"/>
              <a:ext cx="16210280" cy="3959860"/>
            </a:xfrm>
            <a:custGeom>
              <a:avLst/>
              <a:gdLst/>
              <a:ahLst/>
              <a:cxnLst/>
              <a:rect l="l" t="t" r="r" b="b"/>
              <a:pathLst>
                <a:path w="16210280" h="3959859">
                  <a:moveTo>
                    <a:pt x="16070953" y="3959688"/>
                  </a:moveTo>
                  <a:lnTo>
                    <a:pt x="142874" y="3959688"/>
                  </a:lnTo>
                  <a:lnTo>
                    <a:pt x="114871" y="3956917"/>
                  </a:lnTo>
                  <a:lnTo>
                    <a:pt x="63607" y="3935683"/>
                  </a:lnTo>
                  <a:lnTo>
                    <a:pt x="24004" y="3896080"/>
                  </a:lnTo>
                  <a:lnTo>
                    <a:pt x="2770" y="3844817"/>
                  </a:lnTo>
                  <a:lnTo>
                    <a:pt x="0" y="3816813"/>
                  </a:lnTo>
                  <a:lnTo>
                    <a:pt x="0" y="142875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9" y="10875"/>
                  </a:lnTo>
                  <a:lnTo>
                    <a:pt x="142874" y="0"/>
                  </a:lnTo>
                  <a:lnTo>
                    <a:pt x="16070953" y="0"/>
                  </a:lnTo>
                  <a:lnTo>
                    <a:pt x="16098957" y="2770"/>
                  </a:lnTo>
                  <a:lnTo>
                    <a:pt x="16150221" y="24004"/>
                  </a:lnTo>
                  <a:lnTo>
                    <a:pt x="16189824" y="63607"/>
                  </a:lnTo>
                  <a:lnTo>
                    <a:pt x="16209973" y="111296"/>
                  </a:lnTo>
                  <a:lnTo>
                    <a:pt x="16209973" y="3848392"/>
                  </a:lnTo>
                  <a:lnTo>
                    <a:pt x="16189824" y="3896080"/>
                  </a:lnTo>
                  <a:lnTo>
                    <a:pt x="16150221" y="3935683"/>
                  </a:lnTo>
                  <a:lnTo>
                    <a:pt x="16098957" y="3956917"/>
                  </a:lnTo>
                  <a:lnTo>
                    <a:pt x="16070953" y="39596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8742" y="3673375"/>
              <a:ext cx="120317" cy="12031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8742" y="4620872"/>
              <a:ext cx="120317" cy="120317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142355" y="1553372"/>
            <a:ext cx="46050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45">
                <a:latin typeface="Verdana"/>
                <a:cs typeface="Verdana"/>
              </a:rPr>
              <a:t>Contoh</a:t>
            </a:r>
            <a:r>
              <a:rPr dirty="0" sz="2500" spc="-204">
                <a:latin typeface="Verdana"/>
                <a:cs typeface="Verdana"/>
              </a:rPr>
              <a:t> Penerapan</a:t>
            </a:r>
            <a:r>
              <a:rPr dirty="0" sz="2500" spc="-200">
                <a:latin typeface="Verdana"/>
                <a:cs typeface="Verdana"/>
              </a:rPr>
              <a:t> </a:t>
            </a:r>
            <a:r>
              <a:rPr dirty="0" sz="2500" spc="-120">
                <a:latin typeface="Verdana"/>
                <a:cs typeface="Verdana"/>
              </a:rPr>
              <a:t>Priority</a:t>
            </a:r>
            <a:r>
              <a:rPr dirty="0" sz="2500" spc="-200">
                <a:latin typeface="Verdana"/>
                <a:cs typeface="Verdana"/>
              </a:rPr>
              <a:t> </a:t>
            </a:r>
            <a:r>
              <a:rPr dirty="0" sz="2500" spc="-275">
                <a:latin typeface="Verdana"/>
                <a:cs typeface="Verdana"/>
              </a:rPr>
              <a:t>Queue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742569" y="3428057"/>
            <a:ext cx="13623925" cy="192087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>
              <a:lnSpc>
                <a:spcPct val="117300"/>
              </a:lnSpc>
              <a:spcBef>
                <a:spcPts val="90"/>
              </a:spcBef>
            </a:pPr>
            <a:r>
              <a:rPr dirty="0" sz="2650" spc="-45" b="0">
                <a:latin typeface="Lucida Sans Unicode"/>
                <a:cs typeface="Lucida Sans Unicode"/>
              </a:rPr>
              <a:t>Jaringan</a:t>
            </a:r>
            <a:r>
              <a:rPr dirty="0" sz="2650" spc="-160" b="0">
                <a:latin typeface="Lucida Sans Unicode"/>
                <a:cs typeface="Lucida Sans Unicode"/>
              </a:rPr>
              <a:t> </a:t>
            </a:r>
            <a:r>
              <a:rPr dirty="0" sz="2650" spc="-45" b="0">
                <a:latin typeface="Lucida Sans Unicode"/>
                <a:cs typeface="Lucida Sans Unicode"/>
              </a:rPr>
              <a:t>komputer:</a:t>
            </a:r>
            <a:r>
              <a:rPr dirty="0" sz="2650" spc="-155" b="0">
                <a:latin typeface="Lucida Sans Unicode"/>
                <a:cs typeface="Lucida Sans Unicode"/>
              </a:rPr>
              <a:t> </a:t>
            </a:r>
            <a:r>
              <a:rPr dirty="0" sz="2650" spc="-30" b="0">
                <a:latin typeface="Lucida Sans Unicode"/>
                <a:cs typeface="Lucida Sans Unicode"/>
              </a:rPr>
              <a:t>mengatur</a:t>
            </a:r>
            <a:r>
              <a:rPr dirty="0" sz="2650" spc="-155" b="0">
                <a:latin typeface="Lucida Sans Unicode"/>
                <a:cs typeface="Lucida Sans Unicode"/>
              </a:rPr>
              <a:t> </a:t>
            </a:r>
            <a:r>
              <a:rPr dirty="0" sz="2650" spc="-35" b="0">
                <a:latin typeface="Lucida Sans Unicode"/>
                <a:cs typeface="Lucida Sans Unicode"/>
              </a:rPr>
              <a:t>prioritas</a:t>
            </a:r>
            <a:r>
              <a:rPr dirty="0" sz="2650" spc="-155" b="0">
                <a:latin typeface="Lucida Sans Unicode"/>
                <a:cs typeface="Lucida Sans Unicode"/>
              </a:rPr>
              <a:t> </a:t>
            </a:r>
            <a:r>
              <a:rPr dirty="0" sz="2650" spc="-35" b="0">
                <a:latin typeface="Lucida Sans Unicode"/>
                <a:cs typeface="Lucida Sans Unicode"/>
              </a:rPr>
              <a:t>paket</a:t>
            </a:r>
            <a:r>
              <a:rPr dirty="0" sz="2650" spc="-150" b="0">
                <a:latin typeface="Lucida Sans Unicode"/>
                <a:cs typeface="Lucida Sans Unicode"/>
              </a:rPr>
              <a:t> </a:t>
            </a:r>
            <a:r>
              <a:rPr dirty="0" sz="2650" spc="-25" b="0">
                <a:latin typeface="Lucida Sans Unicode"/>
                <a:cs typeface="Lucida Sans Unicode"/>
              </a:rPr>
              <a:t>agar</a:t>
            </a:r>
            <a:r>
              <a:rPr dirty="0" sz="2650" spc="-155" b="0">
                <a:latin typeface="Lucida Sans Unicode"/>
                <a:cs typeface="Lucida Sans Unicode"/>
              </a:rPr>
              <a:t> </a:t>
            </a:r>
            <a:r>
              <a:rPr dirty="0" sz="2650" spc="-35" b="0">
                <a:latin typeface="Lucida Sans Unicode"/>
                <a:cs typeface="Lucida Sans Unicode"/>
              </a:rPr>
              <a:t>paket</a:t>
            </a:r>
            <a:r>
              <a:rPr dirty="0" sz="2650" spc="-155" b="0">
                <a:latin typeface="Lucida Sans Unicode"/>
                <a:cs typeface="Lucida Sans Unicode"/>
              </a:rPr>
              <a:t> </a:t>
            </a:r>
            <a:r>
              <a:rPr dirty="0" sz="2650" spc="-60" b="0">
                <a:latin typeface="Lucida Sans Unicode"/>
                <a:cs typeface="Lucida Sans Unicode"/>
              </a:rPr>
              <a:t>penting</a:t>
            </a:r>
            <a:r>
              <a:rPr dirty="0" sz="2650" spc="-150" b="0">
                <a:latin typeface="Lucida Sans Unicode"/>
                <a:cs typeface="Lucida Sans Unicode"/>
              </a:rPr>
              <a:t> </a:t>
            </a:r>
            <a:r>
              <a:rPr dirty="0" sz="2650" spc="-35" b="0">
                <a:latin typeface="Lucida Sans Unicode"/>
                <a:cs typeface="Lucida Sans Unicode"/>
              </a:rPr>
              <a:t>(seperti</a:t>
            </a:r>
            <a:r>
              <a:rPr dirty="0" sz="2650" spc="-155" b="0">
                <a:latin typeface="Lucida Sans Unicode"/>
                <a:cs typeface="Lucida Sans Unicode"/>
              </a:rPr>
              <a:t> </a:t>
            </a:r>
            <a:r>
              <a:rPr dirty="0" sz="2650" b="0">
                <a:latin typeface="Lucida Sans Unicode"/>
                <a:cs typeface="Lucida Sans Unicode"/>
              </a:rPr>
              <a:t>data</a:t>
            </a:r>
            <a:r>
              <a:rPr dirty="0" sz="2650" spc="-150" b="0">
                <a:latin typeface="Lucida Sans Unicode"/>
                <a:cs typeface="Lucida Sans Unicode"/>
              </a:rPr>
              <a:t> </a:t>
            </a:r>
            <a:r>
              <a:rPr dirty="0" sz="2650" spc="-10" b="0">
                <a:latin typeface="Lucida Sans Unicode"/>
                <a:cs typeface="Lucida Sans Unicode"/>
              </a:rPr>
              <a:t>kontrol) </a:t>
            </a:r>
            <a:r>
              <a:rPr dirty="0" sz="2650" spc="-65" b="0">
                <a:latin typeface="Lucida Sans Unicode"/>
                <a:cs typeface="Lucida Sans Unicode"/>
              </a:rPr>
              <a:t>dikirim</a:t>
            </a:r>
            <a:r>
              <a:rPr dirty="0" sz="2650" spc="-145" b="0">
                <a:latin typeface="Lucida Sans Unicode"/>
                <a:cs typeface="Lucida Sans Unicode"/>
              </a:rPr>
              <a:t> </a:t>
            </a:r>
            <a:r>
              <a:rPr dirty="0" sz="2650" spc="-35" b="0">
                <a:latin typeface="Lucida Sans Unicode"/>
                <a:cs typeface="Lucida Sans Unicode"/>
              </a:rPr>
              <a:t>lebih</a:t>
            </a:r>
            <a:r>
              <a:rPr dirty="0" sz="2650" spc="-165" b="0">
                <a:latin typeface="Lucida Sans Unicode"/>
                <a:cs typeface="Lucida Sans Unicode"/>
              </a:rPr>
              <a:t> </a:t>
            </a:r>
            <a:r>
              <a:rPr dirty="0" sz="2650" spc="-20" b="0">
                <a:latin typeface="Lucida Sans Unicode"/>
                <a:cs typeface="Lucida Sans Unicode"/>
              </a:rPr>
              <a:t>dulu.</a:t>
            </a:r>
            <a:endParaRPr sz="2650">
              <a:latin typeface="Lucida Sans Unicode"/>
              <a:cs typeface="Lucida Sans Unicode"/>
            </a:endParaRPr>
          </a:p>
          <a:p>
            <a:pPr algn="ctr" marL="229870" marR="222250">
              <a:lnSpc>
                <a:spcPct val="117300"/>
              </a:lnSpc>
            </a:pPr>
            <a:r>
              <a:rPr dirty="0" sz="2650" b="0">
                <a:latin typeface="Lucida Sans Unicode"/>
                <a:cs typeface="Lucida Sans Unicode"/>
              </a:rPr>
              <a:t>Keamanan</a:t>
            </a:r>
            <a:r>
              <a:rPr dirty="0" sz="2650" spc="-140" b="0">
                <a:latin typeface="Lucida Sans Unicode"/>
                <a:cs typeface="Lucida Sans Unicode"/>
              </a:rPr>
              <a:t> </a:t>
            </a:r>
            <a:r>
              <a:rPr dirty="0" sz="2650" spc="-30" b="0">
                <a:latin typeface="Lucida Sans Unicode"/>
                <a:cs typeface="Lucida Sans Unicode"/>
              </a:rPr>
              <a:t>data:</a:t>
            </a:r>
            <a:r>
              <a:rPr dirty="0" sz="2650" spc="-135" b="0">
                <a:latin typeface="Lucida Sans Unicode"/>
                <a:cs typeface="Lucida Sans Unicode"/>
              </a:rPr>
              <a:t> </a:t>
            </a:r>
            <a:r>
              <a:rPr dirty="0" sz="2650" spc="-25" b="0">
                <a:latin typeface="Lucida Sans Unicode"/>
                <a:cs typeface="Lucida Sans Unicode"/>
              </a:rPr>
              <a:t>menentukan</a:t>
            </a:r>
            <a:r>
              <a:rPr dirty="0" sz="2650" spc="-140" b="0">
                <a:latin typeface="Lucida Sans Unicode"/>
                <a:cs typeface="Lucida Sans Unicode"/>
              </a:rPr>
              <a:t> </a:t>
            </a:r>
            <a:r>
              <a:rPr dirty="0" sz="2650" spc="-35" b="0">
                <a:latin typeface="Lucida Sans Unicode"/>
                <a:cs typeface="Lucida Sans Unicode"/>
              </a:rPr>
              <a:t>prioritas</a:t>
            </a:r>
            <a:r>
              <a:rPr dirty="0" sz="2650" spc="-135" b="0">
                <a:latin typeface="Lucida Sans Unicode"/>
                <a:cs typeface="Lucida Sans Unicode"/>
              </a:rPr>
              <a:t> </a:t>
            </a:r>
            <a:r>
              <a:rPr dirty="0" sz="2650" spc="-55" b="0">
                <a:latin typeface="Lucida Sans Unicode"/>
                <a:cs typeface="Lucida Sans Unicode"/>
              </a:rPr>
              <a:t>enkripsi</a:t>
            </a:r>
            <a:r>
              <a:rPr dirty="0" sz="2650" spc="-135" b="0">
                <a:latin typeface="Lucida Sans Unicode"/>
                <a:cs typeface="Lucida Sans Unicode"/>
              </a:rPr>
              <a:t> </a:t>
            </a:r>
            <a:r>
              <a:rPr dirty="0" sz="2650" spc="-55" b="0">
                <a:latin typeface="Lucida Sans Unicode"/>
                <a:cs typeface="Lucida Sans Unicode"/>
              </a:rPr>
              <a:t>file</a:t>
            </a:r>
            <a:r>
              <a:rPr dirty="0" sz="2650" spc="-140" b="0">
                <a:latin typeface="Lucida Sans Unicode"/>
                <a:cs typeface="Lucida Sans Unicode"/>
              </a:rPr>
              <a:t> </a:t>
            </a:r>
            <a:r>
              <a:rPr dirty="0" sz="2650" spc="-25" b="0">
                <a:latin typeface="Lucida Sans Unicode"/>
                <a:cs typeface="Lucida Sans Unicode"/>
              </a:rPr>
              <a:t>berdasarkan</a:t>
            </a:r>
            <a:r>
              <a:rPr dirty="0" sz="2650" spc="-135" b="0">
                <a:latin typeface="Lucida Sans Unicode"/>
                <a:cs typeface="Lucida Sans Unicode"/>
              </a:rPr>
              <a:t> </a:t>
            </a:r>
            <a:r>
              <a:rPr dirty="0" sz="2650" spc="-85" b="0">
                <a:latin typeface="Lucida Sans Unicode"/>
                <a:cs typeface="Lucida Sans Unicode"/>
              </a:rPr>
              <a:t>tingkat</a:t>
            </a:r>
            <a:r>
              <a:rPr dirty="0" sz="2650" spc="-140" b="0">
                <a:latin typeface="Lucida Sans Unicode"/>
                <a:cs typeface="Lucida Sans Unicode"/>
              </a:rPr>
              <a:t> </a:t>
            </a:r>
            <a:r>
              <a:rPr dirty="0" sz="2650" spc="-10" b="0">
                <a:latin typeface="Lucida Sans Unicode"/>
                <a:cs typeface="Lucida Sans Unicode"/>
              </a:rPr>
              <a:t>sensitivitas data.</a:t>
            </a:r>
            <a:endParaRPr sz="2650">
              <a:latin typeface="Lucida Sans Unicode"/>
              <a:cs typeface="Lucida Sans Unicode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8742" y="5568369"/>
            <a:ext cx="120317" cy="120316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682881" y="5323051"/>
            <a:ext cx="13742669" cy="973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054725" marR="5080" indent="-6042660">
              <a:lnSpc>
                <a:spcPct val="117300"/>
              </a:lnSpc>
              <a:spcBef>
                <a:spcPts val="90"/>
              </a:spcBef>
            </a:pPr>
            <a:r>
              <a:rPr dirty="0" sz="2650">
                <a:latin typeface="Lucida Sans Unicode"/>
                <a:cs typeface="Lucida Sans Unicode"/>
              </a:rPr>
              <a:t>Pemrosesan</a:t>
            </a:r>
            <a:r>
              <a:rPr dirty="0" sz="2650" spc="-135">
                <a:latin typeface="Lucida Sans Unicode"/>
                <a:cs typeface="Lucida Sans Unicode"/>
              </a:rPr>
              <a:t> </a:t>
            </a:r>
            <a:r>
              <a:rPr dirty="0" sz="2650" spc="-150">
                <a:latin typeface="Lucida Sans Unicode"/>
                <a:cs typeface="Lucida Sans Unicode"/>
              </a:rPr>
              <a:t>real-</a:t>
            </a:r>
            <a:r>
              <a:rPr dirty="0" sz="2650" spc="-45">
                <a:latin typeface="Lucida Sans Unicode"/>
                <a:cs typeface="Lucida Sans Unicode"/>
              </a:rPr>
              <a:t>time:</a:t>
            </a:r>
            <a:r>
              <a:rPr dirty="0" sz="2650" spc="-130">
                <a:latin typeface="Lucida Sans Unicode"/>
                <a:cs typeface="Lucida Sans Unicode"/>
              </a:rPr>
              <a:t> </a:t>
            </a:r>
            <a:r>
              <a:rPr dirty="0" sz="2650" spc="-45">
                <a:latin typeface="Lucida Sans Unicode"/>
                <a:cs typeface="Lucida Sans Unicode"/>
              </a:rPr>
              <a:t>sistem</a:t>
            </a:r>
            <a:r>
              <a:rPr dirty="0" sz="2650" spc="-130">
                <a:latin typeface="Lucida Sans Unicode"/>
                <a:cs typeface="Lucida Sans Unicode"/>
              </a:rPr>
              <a:t> </a:t>
            </a:r>
            <a:r>
              <a:rPr dirty="0" sz="2650" spc="-10">
                <a:latin typeface="Lucida Sans Unicode"/>
                <a:cs typeface="Lucida Sans Unicode"/>
              </a:rPr>
              <a:t>harus</a:t>
            </a:r>
            <a:r>
              <a:rPr dirty="0" sz="2650" spc="-130">
                <a:latin typeface="Lucida Sans Unicode"/>
                <a:cs typeface="Lucida Sans Unicode"/>
              </a:rPr>
              <a:t> </a:t>
            </a:r>
            <a:r>
              <a:rPr dirty="0" sz="2650" spc="-65">
                <a:latin typeface="Lucida Sans Unicode"/>
                <a:cs typeface="Lucida Sans Unicode"/>
              </a:rPr>
              <a:t>mengeksekusi</a:t>
            </a:r>
            <a:r>
              <a:rPr dirty="0" sz="2650" spc="-130">
                <a:latin typeface="Lucida Sans Unicode"/>
                <a:cs typeface="Lucida Sans Unicode"/>
              </a:rPr>
              <a:t> </a:t>
            </a:r>
            <a:r>
              <a:rPr dirty="0" sz="2650" spc="-175">
                <a:latin typeface="Lucida Sans Unicode"/>
                <a:cs typeface="Lucida Sans Unicode"/>
              </a:rPr>
              <a:t>tugas-</a:t>
            </a:r>
            <a:r>
              <a:rPr dirty="0" sz="2650" spc="-70">
                <a:latin typeface="Lucida Sans Unicode"/>
                <a:cs typeface="Lucida Sans Unicode"/>
              </a:rPr>
              <a:t>tugas</a:t>
            </a:r>
            <a:r>
              <a:rPr dirty="0" sz="2650" spc="-130">
                <a:latin typeface="Lucida Sans Unicode"/>
                <a:cs typeface="Lucida Sans Unicode"/>
              </a:rPr>
              <a:t> </a:t>
            </a:r>
            <a:r>
              <a:rPr dirty="0" sz="2650" spc="-60">
                <a:latin typeface="Lucida Sans Unicode"/>
                <a:cs typeface="Lucida Sans Unicode"/>
              </a:rPr>
              <a:t>penting</a:t>
            </a:r>
            <a:r>
              <a:rPr dirty="0" sz="2650" spc="-130">
                <a:latin typeface="Lucida Sans Unicode"/>
                <a:cs typeface="Lucida Sans Unicode"/>
              </a:rPr>
              <a:t> </a:t>
            </a:r>
            <a:r>
              <a:rPr dirty="0" sz="2650" spc="-30">
                <a:latin typeface="Lucida Sans Unicode"/>
                <a:cs typeface="Lucida Sans Unicode"/>
              </a:rPr>
              <a:t>dengan</a:t>
            </a:r>
            <a:r>
              <a:rPr dirty="0" sz="2650" spc="-130">
                <a:latin typeface="Lucida Sans Unicode"/>
                <a:cs typeface="Lucida Sans Unicode"/>
              </a:rPr>
              <a:t> </a:t>
            </a:r>
            <a:r>
              <a:rPr dirty="0" sz="2650" spc="-10">
                <a:latin typeface="Lucida Sans Unicode"/>
                <a:cs typeface="Lucida Sans Unicode"/>
              </a:rPr>
              <a:t>latensi minimum.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469" y="1316424"/>
            <a:ext cx="5400674" cy="9715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028700" y="2338685"/>
            <a:ext cx="16214090" cy="6309995"/>
            <a:chOff x="1028700" y="2338685"/>
            <a:chExt cx="16214090" cy="6309995"/>
          </a:xfrm>
        </p:grpSpPr>
        <p:sp>
          <p:nvSpPr>
            <p:cNvPr id="7" name="object 7" descr=""/>
            <p:cNvSpPr/>
            <p:nvPr/>
          </p:nvSpPr>
          <p:spPr>
            <a:xfrm>
              <a:off x="1028700" y="2338685"/>
              <a:ext cx="16214090" cy="6309995"/>
            </a:xfrm>
            <a:custGeom>
              <a:avLst/>
              <a:gdLst/>
              <a:ahLst/>
              <a:cxnLst/>
              <a:rect l="l" t="t" r="r" b="b"/>
              <a:pathLst>
                <a:path w="16214090" h="6309995">
                  <a:moveTo>
                    <a:pt x="16070956" y="6309697"/>
                  </a:moveTo>
                  <a:lnTo>
                    <a:pt x="142874" y="6309697"/>
                  </a:lnTo>
                  <a:lnTo>
                    <a:pt x="114871" y="6306926"/>
                  </a:lnTo>
                  <a:lnTo>
                    <a:pt x="63607" y="6285692"/>
                  </a:lnTo>
                  <a:lnTo>
                    <a:pt x="24004" y="6246088"/>
                  </a:lnTo>
                  <a:lnTo>
                    <a:pt x="2770" y="6194825"/>
                  </a:lnTo>
                  <a:lnTo>
                    <a:pt x="0" y="6166822"/>
                  </a:lnTo>
                  <a:lnTo>
                    <a:pt x="0" y="142874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9" y="10875"/>
                  </a:lnTo>
                  <a:lnTo>
                    <a:pt x="142874" y="0"/>
                  </a:lnTo>
                  <a:lnTo>
                    <a:pt x="16070956" y="0"/>
                  </a:lnTo>
                  <a:lnTo>
                    <a:pt x="16125631" y="10875"/>
                  </a:lnTo>
                  <a:lnTo>
                    <a:pt x="16171983" y="41847"/>
                  </a:lnTo>
                  <a:lnTo>
                    <a:pt x="16202954" y="88199"/>
                  </a:lnTo>
                  <a:lnTo>
                    <a:pt x="16213831" y="142874"/>
                  </a:lnTo>
                  <a:lnTo>
                    <a:pt x="16213831" y="6166822"/>
                  </a:lnTo>
                  <a:lnTo>
                    <a:pt x="16202954" y="6221497"/>
                  </a:lnTo>
                  <a:lnTo>
                    <a:pt x="16171983" y="6267849"/>
                  </a:lnTo>
                  <a:lnTo>
                    <a:pt x="16125631" y="6298821"/>
                  </a:lnTo>
                  <a:lnTo>
                    <a:pt x="16070956" y="63096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0102" y="4258073"/>
              <a:ext cx="140265" cy="14026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0102" y="4810368"/>
              <a:ext cx="140265" cy="14026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0102" y="5362664"/>
              <a:ext cx="140265" cy="140265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601605" y="1486506"/>
            <a:ext cx="4286885" cy="62103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879475" marR="5080" indent="-867410">
              <a:lnSpc>
                <a:spcPts val="2130"/>
              </a:lnSpc>
              <a:spcBef>
                <a:spcPts val="530"/>
              </a:spcBef>
            </a:pPr>
            <a:r>
              <a:rPr dirty="0" sz="2100" spc="65" b="1">
                <a:latin typeface="Tahoma"/>
                <a:cs typeface="Tahoma"/>
              </a:rPr>
              <a:t>ALGORITMA</a:t>
            </a:r>
            <a:r>
              <a:rPr dirty="0" sz="2100" spc="85" b="1">
                <a:latin typeface="Tahoma"/>
                <a:cs typeface="Tahoma"/>
              </a:rPr>
              <a:t> </a:t>
            </a:r>
            <a:r>
              <a:rPr dirty="0" sz="2100" b="1">
                <a:latin typeface="Tahoma"/>
                <a:cs typeface="Tahoma"/>
              </a:rPr>
              <a:t>PRIORITY</a:t>
            </a:r>
            <a:r>
              <a:rPr dirty="0" sz="2100" spc="90" b="1">
                <a:latin typeface="Tahoma"/>
                <a:cs typeface="Tahoma"/>
              </a:rPr>
              <a:t> </a:t>
            </a:r>
            <a:r>
              <a:rPr dirty="0" sz="2100" spc="45" b="1">
                <a:latin typeface="Tahoma"/>
                <a:cs typeface="Tahoma"/>
              </a:rPr>
              <a:t>QUEUE </a:t>
            </a:r>
            <a:r>
              <a:rPr dirty="0" sz="2100" spc="55" b="1">
                <a:latin typeface="Tahoma"/>
                <a:cs typeface="Tahoma"/>
              </a:rPr>
              <a:t>(BERBASIS</a:t>
            </a:r>
            <a:r>
              <a:rPr dirty="0" sz="2100" spc="-65" b="1">
                <a:latin typeface="Tahoma"/>
                <a:cs typeface="Tahoma"/>
              </a:rPr>
              <a:t> </a:t>
            </a:r>
            <a:r>
              <a:rPr dirty="0" sz="2100" spc="45" b="1">
                <a:latin typeface="Tahoma"/>
                <a:cs typeface="Tahoma"/>
              </a:rPr>
              <a:t>HEAP)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635">
              <a:lnSpc>
                <a:spcPct val="116900"/>
              </a:lnSpc>
              <a:spcBef>
                <a:spcPts val="95"/>
              </a:spcBef>
            </a:pPr>
            <a:r>
              <a:rPr dirty="0" sz="3100" spc="-45" b="0">
                <a:latin typeface="Lucida Sans Unicode"/>
                <a:cs typeface="Lucida Sans Unicode"/>
              </a:rPr>
              <a:t>Insert(element,</a:t>
            </a:r>
            <a:r>
              <a:rPr dirty="0" sz="3100" spc="-170" b="0">
                <a:latin typeface="Lucida Sans Unicode"/>
                <a:cs typeface="Lucida Sans Unicode"/>
              </a:rPr>
              <a:t> </a:t>
            </a:r>
            <a:r>
              <a:rPr dirty="0" sz="3100" spc="-55" b="0">
                <a:latin typeface="Lucida Sans Unicode"/>
                <a:cs typeface="Lucida Sans Unicode"/>
              </a:rPr>
              <a:t>priority)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b="0">
                <a:latin typeface="Lucida Sans Unicode"/>
                <a:cs typeface="Lucida Sans Unicode"/>
              </a:rPr>
              <a:t>–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70" b="0">
                <a:latin typeface="Lucida Sans Unicode"/>
                <a:cs typeface="Lucida Sans Unicode"/>
              </a:rPr>
              <a:t>masukkan</a:t>
            </a:r>
            <a:r>
              <a:rPr dirty="0" sz="3100" spc="-170" b="0">
                <a:latin typeface="Lucida Sans Unicode"/>
                <a:cs typeface="Lucida Sans Unicode"/>
              </a:rPr>
              <a:t> </a:t>
            </a:r>
            <a:r>
              <a:rPr dirty="0" sz="3100" b="0">
                <a:latin typeface="Lucida Sans Unicode"/>
                <a:cs typeface="Lucida Sans Unicode"/>
              </a:rPr>
              <a:t>data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55" b="0">
                <a:latin typeface="Lucida Sans Unicode"/>
                <a:cs typeface="Lucida Sans Unicode"/>
              </a:rPr>
              <a:t>dengan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45" b="0">
                <a:latin typeface="Lucida Sans Unicode"/>
                <a:cs typeface="Lucida Sans Unicode"/>
              </a:rPr>
              <a:t>prioritas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10" b="0">
                <a:latin typeface="Lucida Sans Unicode"/>
                <a:cs typeface="Lucida Sans Unicode"/>
              </a:rPr>
              <a:t>tertentu. </a:t>
            </a:r>
            <a:r>
              <a:rPr dirty="0" sz="3100" spc="-65" b="0">
                <a:latin typeface="Lucida Sans Unicode"/>
                <a:cs typeface="Lucida Sans Unicode"/>
              </a:rPr>
              <a:t>ExtractMax()</a:t>
            </a:r>
            <a:r>
              <a:rPr dirty="0" sz="3100" spc="-170" b="0">
                <a:latin typeface="Lucida Sans Unicode"/>
                <a:cs typeface="Lucida Sans Unicode"/>
              </a:rPr>
              <a:t> </a:t>
            </a:r>
            <a:r>
              <a:rPr dirty="0" sz="3100" spc="-490" b="0">
                <a:latin typeface="Lucida Sans Unicode"/>
                <a:cs typeface="Lucida Sans Unicode"/>
              </a:rPr>
              <a:t>/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55" b="0">
                <a:latin typeface="Lucida Sans Unicode"/>
                <a:cs typeface="Lucida Sans Unicode"/>
              </a:rPr>
              <a:t>ExtractMin()</a:t>
            </a:r>
            <a:r>
              <a:rPr dirty="0" sz="3100" spc="-170" b="0">
                <a:latin typeface="Lucida Sans Unicode"/>
                <a:cs typeface="Lucida Sans Unicode"/>
              </a:rPr>
              <a:t> </a:t>
            </a:r>
            <a:r>
              <a:rPr dirty="0" sz="3100" b="0">
                <a:latin typeface="Lucida Sans Unicode"/>
                <a:cs typeface="Lucida Sans Unicode"/>
              </a:rPr>
              <a:t>–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55" b="0">
                <a:latin typeface="Lucida Sans Unicode"/>
                <a:cs typeface="Lucida Sans Unicode"/>
              </a:rPr>
              <a:t>ambil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10" b="0">
                <a:latin typeface="Lucida Sans Unicode"/>
                <a:cs typeface="Lucida Sans Unicode"/>
              </a:rPr>
              <a:t>elemen</a:t>
            </a:r>
            <a:r>
              <a:rPr dirty="0" sz="3100" spc="-170" b="0">
                <a:latin typeface="Lucida Sans Unicode"/>
                <a:cs typeface="Lucida Sans Unicode"/>
              </a:rPr>
              <a:t> </a:t>
            </a:r>
            <a:r>
              <a:rPr dirty="0" sz="3100" spc="-55" b="0">
                <a:latin typeface="Lucida Sans Unicode"/>
                <a:cs typeface="Lucida Sans Unicode"/>
              </a:rPr>
              <a:t>dengan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45" b="0">
                <a:latin typeface="Lucida Sans Unicode"/>
                <a:cs typeface="Lucida Sans Unicode"/>
              </a:rPr>
              <a:t>prioritas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30" b="0">
                <a:latin typeface="Lucida Sans Unicode"/>
                <a:cs typeface="Lucida Sans Unicode"/>
              </a:rPr>
              <a:t>tertinggi.</a:t>
            </a:r>
            <a:endParaRPr sz="3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3100" spc="-50" b="0">
                <a:latin typeface="Lucida Sans Unicode"/>
                <a:cs typeface="Lucida Sans Unicode"/>
              </a:rPr>
              <a:t>Heapify()</a:t>
            </a:r>
            <a:r>
              <a:rPr dirty="0" sz="3100" spc="-170" b="0">
                <a:latin typeface="Lucida Sans Unicode"/>
                <a:cs typeface="Lucida Sans Unicode"/>
              </a:rPr>
              <a:t> </a:t>
            </a:r>
            <a:r>
              <a:rPr dirty="0" sz="3100" b="0">
                <a:latin typeface="Lucida Sans Unicode"/>
                <a:cs typeface="Lucida Sans Unicode"/>
              </a:rPr>
              <a:t>–</a:t>
            </a:r>
            <a:r>
              <a:rPr dirty="0" sz="3100" spc="-170" b="0">
                <a:latin typeface="Lucida Sans Unicode"/>
                <a:cs typeface="Lucida Sans Unicode"/>
              </a:rPr>
              <a:t> </a:t>
            </a:r>
            <a:r>
              <a:rPr dirty="0" sz="3100" spc="-95" b="0">
                <a:latin typeface="Lucida Sans Unicode"/>
                <a:cs typeface="Lucida Sans Unicode"/>
              </a:rPr>
              <a:t>jaga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50" b="0">
                <a:latin typeface="Lucida Sans Unicode"/>
                <a:cs typeface="Lucida Sans Unicode"/>
              </a:rPr>
              <a:t>agar</a:t>
            </a:r>
            <a:r>
              <a:rPr dirty="0" sz="3100" spc="-170" b="0">
                <a:latin typeface="Lucida Sans Unicode"/>
                <a:cs typeface="Lucida Sans Unicode"/>
              </a:rPr>
              <a:t> </a:t>
            </a:r>
            <a:r>
              <a:rPr dirty="0" sz="3100" spc="-60" b="0">
                <a:latin typeface="Lucida Sans Unicode"/>
                <a:cs typeface="Lucida Sans Unicode"/>
              </a:rPr>
              <a:t>struktur</a:t>
            </a:r>
            <a:r>
              <a:rPr dirty="0" sz="3100" spc="-170" b="0">
                <a:latin typeface="Lucida Sans Unicode"/>
                <a:cs typeface="Lucida Sans Unicode"/>
              </a:rPr>
              <a:t> </a:t>
            </a:r>
            <a:r>
              <a:rPr dirty="0" sz="3100" b="0">
                <a:latin typeface="Lucida Sans Unicode"/>
                <a:cs typeface="Lucida Sans Unicode"/>
              </a:rPr>
              <a:t>heap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20" b="0">
                <a:latin typeface="Lucida Sans Unicode"/>
                <a:cs typeface="Lucida Sans Unicode"/>
              </a:rPr>
              <a:t>tetap</a:t>
            </a:r>
            <a:r>
              <a:rPr dirty="0" sz="3100" spc="-170" b="0">
                <a:latin typeface="Lucida Sans Unicode"/>
                <a:cs typeface="Lucida Sans Unicode"/>
              </a:rPr>
              <a:t> </a:t>
            </a:r>
            <a:r>
              <a:rPr dirty="0" sz="3100" spc="-65" b="0">
                <a:latin typeface="Lucida Sans Unicode"/>
                <a:cs typeface="Lucida Sans Unicode"/>
              </a:rPr>
              <a:t>valid</a:t>
            </a:r>
            <a:r>
              <a:rPr dirty="0" sz="3100" spc="-170" b="0">
                <a:latin typeface="Lucida Sans Unicode"/>
                <a:cs typeface="Lucida Sans Unicode"/>
              </a:rPr>
              <a:t> </a:t>
            </a:r>
            <a:r>
              <a:rPr dirty="0" sz="3100" spc="-35" b="0">
                <a:latin typeface="Lucida Sans Unicode"/>
                <a:cs typeface="Lucida Sans Unicode"/>
              </a:rPr>
              <a:t>setelah</a:t>
            </a:r>
            <a:r>
              <a:rPr dirty="0" sz="3100" spc="-165" b="0">
                <a:latin typeface="Lucida Sans Unicode"/>
                <a:cs typeface="Lucida Sans Unicode"/>
              </a:rPr>
              <a:t> </a:t>
            </a:r>
            <a:r>
              <a:rPr dirty="0" sz="3100" spc="-10" b="0">
                <a:latin typeface="Lucida Sans Unicode"/>
                <a:cs typeface="Lucida Sans Unicode"/>
              </a:rPr>
              <a:t>perubahan.</a:t>
            </a:r>
            <a:endParaRPr sz="3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422416"/>
            <a:ext cx="5610224" cy="12382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028699" y="2803557"/>
            <a:ext cx="16214090" cy="5380355"/>
            <a:chOff x="1028699" y="2803557"/>
            <a:chExt cx="16214090" cy="5380355"/>
          </a:xfrm>
        </p:grpSpPr>
        <p:sp>
          <p:nvSpPr>
            <p:cNvPr id="7" name="object 7" descr=""/>
            <p:cNvSpPr/>
            <p:nvPr/>
          </p:nvSpPr>
          <p:spPr>
            <a:xfrm>
              <a:off x="1028699" y="2803557"/>
              <a:ext cx="16214090" cy="5380355"/>
            </a:xfrm>
            <a:custGeom>
              <a:avLst/>
              <a:gdLst/>
              <a:ahLst/>
              <a:cxnLst/>
              <a:rect l="l" t="t" r="r" b="b"/>
              <a:pathLst>
                <a:path w="16214090" h="5380355">
                  <a:moveTo>
                    <a:pt x="16070956" y="5379952"/>
                  </a:moveTo>
                  <a:lnTo>
                    <a:pt x="142874" y="5379952"/>
                  </a:lnTo>
                  <a:lnTo>
                    <a:pt x="114871" y="5377181"/>
                  </a:lnTo>
                  <a:lnTo>
                    <a:pt x="63607" y="5355946"/>
                  </a:lnTo>
                  <a:lnTo>
                    <a:pt x="24004" y="5316343"/>
                  </a:lnTo>
                  <a:lnTo>
                    <a:pt x="2770" y="5265080"/>
                  </a:lnTo>
                  <a:lnTo>
                    <a:pt x="0" y="5237077"/>
                  </a:lnTo>
                  <a:lnTo>
                    <a:pt x="0" y="142874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9" y="10875"/>
                  </a:lnTo>
                  <a:lnTo>
                    <a:pt x="142874" y="0"/>
                  </a:lnTo>
                  <a:lnTo>
                    <a:pt x="16070956" y="0"/>
                  </a:lnTo>
                  <a:lnTo>
                    <a:pt x="16125632" y="10875"/>
                  </a:lnTo>
                  <a:lnTo>
                    <a:pt x="16171983" y="41847"/>
                  </a:lnTo>
                  <a:lnTo>
                    <a:pt x="16202955" y="88199"/>
                  </a:lnTo>
                  <a:lnTo>
                    <a:pt x="16213831" y="142874"/>
                  </a:lnTo>
                  <a:lnTo>
                    <a:pt x="16213831" y="5237077"/>
                  </a:lnTo>
                  <a:lnTo>
                    <a:pt x="16202955" y="5291752"/>
                  </a:lnTo>
                  <a:lnTo>
                    <a:pt x="16171983" y="5338104"/>
                  </a:lnTo>
                  <a:lnTo>
                    <a:pt x="16125632" y="5369076"/>
                  </a:lnTo>
                  <a:lnTo>
                    <a:pt x="16070956" y="5379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49" y="3917983"/>
              <a:ext cx="104775" cy="10477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49" y="4222782"/>
              <a:ext cx="104775" cy="10477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49" y="4527582"/>
              <a:ext cx="104775" cy="10477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49" y="4832382"/>
              <a:ext cx="104775" cy="10477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49" y="5137183"/>
              <a:ext cx="104775" cy="10477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49" y="5441982"/>
              <a:ext cx="104775" cy="10477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49" y="5746782"/>
              <a:ext cx="104775" cy="10477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49" y="6051582"/>
              <a:ext cx="104775" cy="10477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49" y="6356382"/>
              <a:ext cx="104775" cy="10477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49" y="6661182"/>
              <a:ext cx="104775" cy="104774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453014" y="1737424"/>
            <a:ext cx="476059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40" b="0">
                <a:latin typeface="Verdana"/>
                <a:cs typeface="Verdana"/>
              </a:rPr>
              <a:t>Permasalahan</a:t>
            </a:r>
            <a:r>
              <a:rPr dirty="0" sz="2800" spc="-235" b="0">
                <a:latin typeface="Verdana"/>
                <a:cs typeface="Verdana"/>
              </a:rPr>
              <a:t> </a:t>
            </a:r>
            <a:r>
              <a:rPr dirty="0" sz="2800" spc="-270" b="0">
                <a:latin typeface="Verdana"/>
                <a:cs typeface="Verdana"/>
              </a:rPr>
              <a:t>Keamanan</a:t>
            </a:r>
            <a:r>
              <a:rPr dirty="0" sz="2800" spc="-235" b="0">
                <a:latin typeface="Verdana"/>
                <a:cs typeface="Verdana"/>
              </a:rPr>
              <a:t> </a:t>
            </a:r>
            <a:r>
              <a:rPr dirty="0" sz="2800" spc="-135" b="0">
                <a:latin typeface="Verdana"/>
                <a:cs typeface="Verdana"/>
              </a:rPr>
              <a:t>Data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pc="-10"/>
              <a:t>Penyadapan</a:t>
            </a:r>
            <a:r>
              <a:rPr dirty="0" spc="-204"/>
              <a:t> </a:t>
            </a:r>
            <a:r>
              <a:rPr dirty="0" spc="-30"/>
              <a:t>dan</a:t>
            </a:r>
            <a:r>
              <a:rPr dirty="0" spc="-195"/>
              <a:t> </a:t>
            </a:r>
            <a:r>
              <a:rPr dirty="0" spc="-80"/>
              <a:t>manipulasi</a:t>
            </a:r>
            <a:r>
              <a:rPr dirty="0" spc="-195"/>
              <a:t> </a:t>
            </a:r>
            <a:r>
              <a:rPr dirty="0" spc="-10"/>
              <a:t>data.</a:t>
            </a: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pc="-25"/>
              <a:t>Pencurian</a:t>
            </a:r>
            <a:r>
              <a:rPr dirty="0" spc="-195"/>
              <a:t> </a:t>
            </a:r>
            <a:r>
              <a:rPr dirty="0" spc="-80"/>
              <a:t>identitas</a:t>
            </a:r>
            <a:r>
              <a:rPr dirty="0" spc="-195"/>
              <a:t> </a:t>
            </a:r>
            <a:r>
              <a:rPr dirty="0" spc="-30"/>
              <a:t>dan</a:t>
            </a:r>
            <a:r>
              <a:rPr dirty="0" spc="-190"/>
              <a:t> </a:t>
            </a:r>
            <a:r>
              <a:rPr dirty="0" spc="-35"/>
              <a:t>data</a:t>
            </a:r>
            <a:r>
              <a:rPr dirty="0" spc="-195"/>
              <a:t> </a:t>
            </a:r>
            <a:r>
              <a:rPr dirty="0" spc="-10"/>
              <a:t>sensitif.</a:t>
            </a: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pc="-45"/>
              <a:t>Serangan</a:t>
            </a:r>
            <a:r>
              <a:rPr dirty="0" spc="-175"/>
              <a:t> </a:t>
            </a:r>
            <a:r>
              <a:rPr dirty="0" spc="-190"/>
              <a:t>brute-</a:t>
            </a:r>
            <a:r>
              <a:rPr dirty="0" spc="-60"/>
              <a:t>force</a:t>
            </a:r>
            <a:r>
              <a:rPr dirty="0" spc="-170"/>
              <a:t> </a:t>
            </a:r>
            <a:r>
              <a:rPr dirty="0" spc="-35"/>
              <a:t>terhadap</a:t>
            </a:r>
            <a:r>
              <a:rPr dirty="0" spc="-175"/>
              <a:t> </a:t>
            </a:r>
            <a:r>
              <a:rPr dirty="0" spc="-80"/>
              <a:t>algoritma</a:t>
            </a:r>
            <a:r>
              <a:rPr dirty="0" spc="-170"/>
              <a:t> </a:t>
            </a:r>
            <a:r>
              <a:rPr dirty="0" spc="-10"/>
              <a:t>enkripsi.</a:t>
            </a: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pc="-90"/>
              <a:t>Tantangan</a:t>
            </a:r>
            <a:r>
              <a:rPr dirty="0" spc="-195"/>
              <a:t> </a:t>
            </a:r>
            <a:r>
              <a:rPr dirty="0" spc="-25"/>
              <a:t>pada</a:t>
            </a:r>
            <a:r>
              <a:rPr dirty="0" spc="-200"/>
              <a:t> </a:t>
            </a:r>
            <a:r>
              <a:rPr dirty="0" spc="-80"/>
              <a:t>perangkat</a:t>
            </a:r>
            <a:r>
              <a:rPr dirty="0" spc="-195"/>
              <a:t> </a:t>
            </a:r>
            <a:r>
              <a:rPr dirty="0" spc="-125"/>
              <a:t>IoT</a:t>
            </a:r>
            <a:r>
              <a:rPr dirty="0" spc="-195"/>
              <a:t> </a:t>
            </a:r>
            <a:r>
              <a:rPr dirty="0" spc="-80"/>
              <a:t>dengan</a:t>
            </a:r>
            <a:r>
              <a:rPr dirty="0" spc="-195"/>
              <a:t> </a:t>
            </a:r>
            <a:r>
              <a:rPr dirty="0" spc="-45"/>
              <a:t>sumber</a:t>
            </a:r>
            <a:r>
              <a:rPr dirty="0" spc="-195"/>
              <a:t> </a:t>
            </a:r>
            <a:r>
              <a:rPr dirty="0" spc="-35"/>
              <a:t>daya</a:t>
            </a:r>
            <a:r>
              <a:rPr dirty="0" spc="-195"/>
              <a:t> </a:t>
            </a:r>
            <a:r>
              <a:rPr dirty="0" spc="-10"/>
              <a:t>rendah.</a:t>
            </a:r>
          </a:p>
          <a:p>
            <a:pPr algn="ctr" marL="12065" marR="5080">
              <a:lnSpc>
                <a:spcPct val="115799"/>
              </a:lnSpc>
            </a:pPr>
            <a:r>
              <a:rPr dirty="0" spc="-75"/>
              <a:t>Ancaman</a:t>
            </a:r>
            <a:r>
              <a:rPr dirty="0" spc="-180"/>
              <a:t> </a:t>
            </a:r>
            <a:r>
              <a:rPr dirty="0" spc="-50"/>
              <a:t>dari</a:t>
            </a:r>
            <a:r>
              <a:rPr dirty="0" spc="-175"/>
              <a:t> </a:t>
            </a:r>
            <a:r>
              <a:rPr dirty="0" spc="-85"/>
              <a:t>komputasi</a:t>
            </a:r>
            <a:r>
              <a:rPr dirty="0" spc="-180"/>
              <a:t> </a:t>
            </a:r>
            <a:r>
              <a:rPr dirty="0" spc="-75"/>
              <a:t>kuantum</a:t>
            </a:r>
            <a:r>
              <a:rPr dirty="0" spc="-175"/>
              <a:t> </a:t>
            </a:r>
            <a:r>
              <a:rPr dirty="0" spc="-110"/>
              <a:t>yang</a:t>
            </a:r>
            <a:r>
              <a:rPr dirty="0" spc="-180"/>
              <a:t> </a:t>
            </a:r>
            <a:r>
              <a:rPr dirty="0" spc="-40"/>
              <a:t>dapat</a:t>
            </a:r>
            <a:r>
              <a:rPr dirty="0" spc="-175"/>
              <a:t> </a:t>
            </a:r>
            <a:r>
              <a:rPr dirty="0" spc="-55"/>
              <a:t>memecahkan</a:t>
            </a:r>
            <a:r>
              <a:rPr dirty="0" spc="-175"/>
              <a:t> </a:t>
            </a:r>
            <a:r>
              <a:rPr dirty="0" spc="-120"/>
              <a:t>kunci</a:t>
            </a:r>
            <a:r>
              <a:rPr dirty="0" spc="-180"/>
              <a:t> </a:t>
            </a:r>
            <a:r>
              <a:rPr dirty="0" spc="-10"/>
              <a:t>enkripsi konvensional.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084" y="2553725"/>
            <a:ext cx="4029074" cy="12334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37084" y="3049356"/>
            <a:ext cx="16213455" cy="4188460"/>
          </a:xfrm>
          <a:custGeom>
            <a:avLst/>
            <a:gdLst/>
            <a:ahLst/>
            <a:cxnLst/>
            <a:rect l="l" t="t" r="r" b="b"/>
            <a:pathLst>
              <a:path w="16213455" h="4188459">
                <a:moveTo>
                  <a:pt x="16070955" y="4188287"/>
                </a:moveTo>
                <a:lnTo>
                  <a:pt x="142875" y="4188287"/>
                </a:lnTo>
                <a:lnTo>
                  <a:pt x="114871" y="4185517"/>
                </a:lnTo>
                <a:lnTo>
                  <a:pt x="63607" y="4164283"/>
                </a:lnTo>
                <a:lnTo>
                  <a:pt x="24004" y="4124680"/>
                </a:lnTo>
                <a:lnTo>
                  <a:pt x="2770" y="4073416"/>
                </a:lnTo>
                <a:lnTo>
                  <a:pt x="0" y="4045412"/>
                </a:lnTo>
                <a:lnTo>
                  <a:pt x="0" y="142875"/>
                </a:lnTo>
                <a:lnTo>
                  <a:pt x="10875" y="88199"/>
                </a:lnTo>
                <a:lnTo>
                  <a:pt x="41847" y="41847"/>
                </a:lnTo>
                <a:lnTo>
                  <a:pt x="88199" y="10875"/>
                </a:lnTo>
                <a:lnTo>
                  <a:pt x="142875" y="0"/>
                </a:lnTo>
                <a:lnTo>
                  <a:pt x="16070955" y="0"/>
                </a:lnTo>
                <a:lnTo>
                  <a:pt x="16125630" y="10875"/>
                </a:lnTo>
                <a:lnTo>
                  <a:pt x="16171982" y="41847"/>
                </a:lnTo>
                <a:lnTo>
                  <a:pt x="16202954" y="88199"/>
                </a:lnTo>
                <a:lnTo>
                  <a:pt x="16213254" y="137060"/>
                </a:lnTo>
                <a:lnTo>
                  <a:pt x="16213254" y="4051227"/>
                </a:lnTo>
                <a:lnTo>
                  <a:pt x="16202954" y="4100089"/>
                </a:lnTo>
                <a:lnTo>
                  <a:pt x="16171982" y="4146441"/>
                </a:lnTo>
                <a:lnTo>
                  <a:pt x="16125630" y="4177412"/>
                </a:lnTo>
                <a:lnTo>
                  <a:pt x="16070955" y="41882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066784" y="4318622"/>
            <a:ext cx="13103225" cy="156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45890" marR="205104" indent="-3824604">
              <a:lnSpc>
                <a:spcPct val="116399"/>
              </a:lnSpc>
              <a:spcBef>
                <a:spcPts val="100"/>
              </a:spcBef>
            </a:pPr>
            <a:r>
              <a:rPr dirty="0" sz="2900" spc="-170">
                <a:latin typeface="Verdana"/>
                <a:cs typeface="Verdana"/>
              </a:rPr>
              <a:t>AES</a:t>
            </a:r>
            <a:r>
              <a:rPr dirty="0" sz="2900" spc="-254">
                <a:latin typeface="Verdana"/>
                <a:cs typeface="Verdana"/>
              </a:rPr>
              <a:t> </a:t>
            </a:r>
            <a:r>
              <a:rPr dirty="0" sz="2900" spc="-229">
                <a:latin typeface="Verdana"/>
                <a:cs typeface="Verdana"/>
              </a:rPr>
              <a:t>adalah</a:t>
            </a:r>
            <a:r>
              <a:rPr dirty="0" sz="2900" spc="-254">
                <a:latin typeface="Verdana"/>
                <a:cs typeface="Verdana"/>
              </a:rPr>
              <a:t> </a:t>
            </a:r>
            <a:r>
              <a:rPr dirty="0" sz="2900" spc="-225">
                <a:latin typeface="Verdana"/>
                <a:cs typeface="Verdana"/>
              </a:rPr>
              <a:t>algoritma</a:t>
            </a:r>
            <a:r>
              <a:rPr dirty="0" sz="2900" spc="-250">
                <a:latin typeface="Verdana"/>
                <a:cs typeface="Verdana"/>
              </a:rPr>
              <a:t> </a:t>
            </a:r>
            <a:r>
              <a:rPr dirty="0" sz="2900" spc="-210">
                <a:latin typeface="Verdana"/>
                <a:cs typeface="Verdana"/>
              </a:rPr>
              <a:t>enkripsi</a:t>
            </a:r>
            <a:r>
              <a:rPr dirty="0" sz="2900" spc="-254">
                <a:latin typeface="Verdana"/>
                <a:cs typeface="Verdana"/>
              </a:rPr>
              <a:t> </a:t>
            </a:r>
            <a:r>
              <a:rPr dirty="0" sz="2900" spc="-235">
                <a:latin typeface="Verdana"/>
                <a:cs typeface="Verdana"/>
              </a:rPr>
              <a:t>simetris</a:t>
            </a:r>
            <a:r>
              <a:rPr dirty="0" sz="2900" spc="-254">
                <a:latin typeface="Verdana"/>
                <a:cs typeface="Verdana"/>
              </a:rPr>
              <a:t> </a:t>
            </a:r>
            <a:r>
              <a:rPr dirty="0" sz="2900" spc="-229">
                <a:latin typeface="Verdana"/>
                <a:cs typeface="Verdana"/>
              </a:rPr>
              <a:t>yang</a:t>
            </a:r>
            <a:r>
              <a:rPr dirty="0" sz="2900" spc="-250">
                <a:latin typeface="Verdana"/>
                <a:cs typeface="Verdana"/>
              </a:rPr>
              <a:t> </a:t>
            </a:r>
            <a:r>
              <a:rPr dirty="0" sz="2900" spc="-245">
                <a:latin typeface="Verdana"/>
                <a:cs typeface="Verdana"/>
              </a:rPr>
              <a:t>mengenkripsi</a:t>
            </a:r>
            <a:r>
              <a:rPr dirty="0" sz="2900" spc="-254">
                <a:latin typeface="Verdana"/>
                <a:cs typeface="Verdana"/>
              </a:rPr>
              <a:t> </a:t>
            </a:r>
            <a:r>
              <a:rPr dirty="0" sz="2900" spc="-235">
                <a:latin typeface="Verdana"/>
                <a:cs typeface="Verdana"/>
              </a:rPr>
              <a:t>dan</a:t>
            </a:r>
            <a:r>
              <a:rPr dirty="0" sz="2900" spc="-254">
                <a:latin typeface="Verdana"/>
                <a:cs typeface="Verdana"/>
              </a:rPr>
              <a:t> </a:t>
            </a:r>
            <a:r>
              <a:rPr dirty="0" sz="2900" spc="-245">
                <a:latin typeface="Verdana"/>
                <a:cs typeface="Verdana"/>
              </a:rPr>
              <a:t>mendekripsi</a:t>
            </a:r>
            <a:r>
              <a:rPr dirty="0" sz="2900" spc="-250">
                <a:latin typeface="Verdana"/>
                <a:cs typeface="Verdana"/>
              </a:rPr>
              <a:t> </a:t>
            </a:r>
            <a:r>
              <a:rPr dirty="0" sz="2900" spc="-100">
                <a:latin typeface="Verdana"/>
                <a:cs typeface="Verdana"/>
              </a:rPr>
              <a:t>data </a:t>
            </a:r>
            <a:r>
              <a:rPr dirty="0" sz="2900" spc="-270">
                <a:latin typeface="Verdana"/>
                <a:cs typeface="Verdana"/>
              </a:rPr>
              <a:t>menggunakan</a:t>
            </a:r>
            <a:r>
              <a:rPr dirty="0" sz="2900" spc="-280">
                <a:latin typeface="Verdana"/>
                <a:cs typeface="Verdana"/>
              </a:rPr>
              <a:t> </a:t>
            </a:r>
            <a:r>
              <a:rPr dirty="0" sz="2900" spc="-220">
                <a:latin typeface="Verdana"/>
                <a:cs typeface="Verdana"/>
              </a:rPr>
              <a:t>kunci</a:t>
            </a:r>
            <a:r>
              <a:rPr dirty="0" sz="2900" spc="-280">
                <a:latin typeface="Verdana"/>
                <a:cs typeface="Verdana"/>
              </a:rPr>
              <a:t> </a:t>
            </a:r>
            <a:r>
              <a:rPr dirty="0" sz="2900" spc="-229">
                <a:latin typeface="Verdana"/>
                <a:cs typeface="Verdana"/>
              </a:rPr>
              <a:t>yang</a:t>
            </a:r>
            <a:r>
              <a:rPr dirty="0" sz="2900" spc="-275">
                <a:latin typeface="Verdana"/>
                <a:cs typeface="Verdana"/>
              </a:rPr>
              <a:t> </a:t>
            </a:r>
            <a:r>
              <a:rPr dirty="0" sz="2900" spc="-325">
                <a:latin typeface="Verdana"/>
                <a:cs typeface="Verdana"/>
              </a:rPr>
              <a:t>sama.</a:t>
            </a:r>
            <a:endParaRPr sz="2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900" spc="-240">
                <a:latin typeface="Verdana"/>
                <a:cs typeface="Verdana"/>
              </a:rPr>
              <a:t>Ditetapkan</a:t>
            </a:r>
            <a:r>
              <a:rPr dirty="0" sz="2900" spc="-285">
                <a:latin typeface="Verdana"/>
                <a:cs typeface="Verdana"/>
              </a:rPr>
              <a:t> </a:t>
            </a:r>
            <a:r>
              <a:rPr dirty="0" sz="2900" spc="-250">
                <a:latin typeface="Verdana"/>
                <a:cs typeface="Verdana"/>
              </a:rPr>
              <a:t>oleh</a:t>
            </a:r>
            <a:r>
              <a:rPr dirty="0" sz="2900" spc="-280">
                <a:latin typeface="Verdana"/>
                <a:cs typeface="Verdana"/>
              </a:rPr>
              <a:t> </a:t>
            </a:r>
            <a:r>
              <a:rPr dirty="0" sz="2900" spc="-240">
                <a:latin typeface="Verdana"/>
                <a:cs typeface="Verdana"/>
              </a:rPr>
              <a:t>NIST</a:t>
            </a:r>
            <a:r>
              <a:rPr dirty="0" sz="2900" spc="-280">
                <a:latin typeface="Verdana"/>
                <a:cs typeface="Verdana"/>
              </a:rPr>
              <a:t> </a:t>
            </a:r>
            <a:r>
              <a:rPr dirty="0" sz="2900" spc="-375">
                <a:latin typeface="Verdana"/>
                <a:cs typeface="Verdana"/>
              </a:rPr>
              <a:t>(2001),</a:t>
            </a:r>
            <a:r>
              <a:rPr dirty="0" sz="2900" spc="-285">
                <a:latin typeface="Verdana"/>
                <a:cs typeface="Verdana"/>
              </a:rPr>
              <a:t> </a:t>
            </a:r>
            <a:r>
              <a:rPr dirty="0" sz="2900" spc="-170">
                <a:latin typeface="Verdana"/>
                <a:cs typeface="Verdana"/>
              </a:rPr>
              <a:t>AES</a:t>
            </a:r>
            <a:r>
              <a:rPr dirty="0" sz="2900" spc="-280">
                <a:latin typeface="Verdana"/>
                <a:cs typeface="Verdana"/>
              </a:rPr>
              <a:t> mendukung </a:t>
            </a:r>
            <a:r>
              <a:rPr dirty="0" sz="2900" spc="-260">
                <a:latin typeface="Verdana"/>
                <a:cs typeface="Verdana"/>
              </a:rPr>
              <a:t>panjang</a:t>
            </a:r>
            <a:r>
              <a:rPr dirty="0" sz="2900" spc="-280">
                <a:latin typeface="Verdana"/>
                <a:cs typeface="Verdana"/>
              </a:rPr>
              <a:t> </a:t>
            </a:r>
            <a:r>
              <a:rPr dirty="0" sz="2900" spc="-220">
                <a:latin typeface="Verdana"/>
                <a:cs typeface="Verdana"/>
              </a:rPr>
              <a:t>kunci</a:t>
            </a:r>
            <a:r>
              <a:rPr dirty="0" sz="2900" spc="-285">
                <a:latin typeface="Verdana"/>
                <a:cs typeface="Verdana"/>
              </a:rPr>
              <a:t> </a:t>
            </a:r>
            <a:r>
              <a:rPr dirty="0" sz="2900" spc="-390">
                <a:latin typeface="Verdana"/>
                <a:cs typeface="Verdana"/>
              </a:rPr>
              <a:t>128,</a:t>
            </a:r>
            <a:r>
              <a:rPr dirty="0" sz="2900" spc="-280">
                <a:latin typeface="Verdana"/>
                <a:cs typeface="Verdana"/>
              </a:rPr>
              <a:t> </a:t>
            </a:r>
            <a:r>
              <a:rPr dirty="0" sz="2900" spc="-400">
                <a:latin typeface="Verdana"/>
                <a:cs typeface="Verdana"/>
              </a:rPr>
              <a:t>192,</a:t>
            </a:r>
            <a:r>
              <a:rPr dirty="0" sz="2900" spc="-280">
                <a:latin typeface="Verdana"/>
                <a:cs typeface="Verdana"/>
              </a:rPr>
              <a:t> </a:t>
            </a:r>
            <a:r>
              <a:rPr dirty="0" sz="2900" spc="-235">
                <a:latin typeface="Verdana"/>
                <a:cs typeface="Verdana"/>
              </a:rPr>
              <a:t>dan</a:t>
            </a:r>
            <a:r>
              <a:rPr dirty="0" sz="2900" spc="-285">
                <a:latin typeface="Verdana"/>
                <a:cs typeface="Verdana"/>
              </a:rPr>
              <a:t> </a:t>
            </a:r>
            <a:r>
              <a:rPr dirty="0" sz="2900" spc="-120">
                <a:latin typeface="Verdana"/>
                <a:cs typeface="Verdana"/>
              </a:rPr>
              <a:t>256</a:t>
            </a:r>
            <a:r>
              <a:rPr dirty="0" sz="2900" spc="-280">
                <a:latin typeface="Verdana"/>
                <a:cs typeface="Verdana"/>
              </a:rPr>
              <a:t> </a:t>
            </a:r>
            <a:r>
              <a:rPr dirty="0" sz="2900" spc="-80">
                <a:latin typeface="Verdana"/>
                <a:cs typeface="Verdana"/>
              </a:rPr>
              <a:t>bit.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642027" y="3493166"/>
            <a:ext cx="3573145" cy="543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80" b="0">
                <a:latin typeface="Lucida Sans Unicode"/>
                <a:cs typeface="Lucida Sans Unicode"/>
              </a:rPr>
              <a:t>KRIPTOGRAFI</a:t>
            </a:r>
            <a:r>
              <a:rPr dirty="0" sz="3400" spc="-100" b="0">
                <a:latin typeface="Lucida Sans Unicode"/>
                <a:cs typeface="Lucida Sans Unicode"/>
              </a:rPr>
              <a:t> </a:t>
            </a:r>
            <a:r>
              <a:rPr dirty="0" sz="3400" spc="-25" b="0">
                <a:latin typeface="Lucida Sans Unicode"/>
                <a:cs typeface="Lucida Sans Unicode"/>
              </a:rPr>
              <a:t>AES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8464" y="7639440"/>
            <a:ext cx="4029074" cy="12334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37084" y="3049356"/>
            <a:ext cx="16213455" cy="4188460"/>
          </a:xfrm>
          <a:custGeom>
            <a:avLst/>
            <a:gdLst/>
            <a:ahLst/>
            <a:cxnLst/>
            <a:rect l="l" t="t" r="r" b="b"/>
            <a:pathLst>
              <a:path w="16213455" h="4188459">
                <a:moveTo>
                  <a:pt x="16070955" y="4188287"/>
                </a:moveTo>
                <a:lnTo>
                  <a:pt x="142875" y="4188287"/>
                </a:lnTo>
                <a:lnTo>
                  <a:pt x="114871" y="4185517"/>
                </a:lnTo>
                <a:lnTo>
                  <a:pt x="63607" y="4164283"/>
                </a:lnTo>
                <a:lnTo>
                  <a:pt x="24004" y="4124680"/>
                </a:lnTo>
                <a:lnTo>
                  <a:pt x="2770" y="4073416"/>
                </a:lnTo>
                <a:lnTo>
                  <a:pt x="0" y="4045412"/>
                </a:lnTo>
                <a:lnTo>
                  <a:pt x="0" y="142875"/>
                </a:lnTo>
                <a:lnTo>
                  <a:pt x="10875" y="88199"/>
                </a:lnTo>
                <a:lnTo>
                  <a:pt x="41847" y="41847"/>
                </a:lnTo>
                <a:lnTo>
                  <a:pt x="88199" y="10875"/>
                </a:lnTo>
                <a:lnTo>
                  <a:pt x="142875" y="0"/>
                </a:lnTo>
                <a:lnTo>
                  <a:pt x="16070955" y="0"/>
                </a:lnTo>
                <a:lnTo>
                  <a:pt x="16125630" y="10875"/>
                </a:lnTo>
                <a:lnTo>
                  <a:pt x="16171982" y="41847"/>
                </a:lnTo>
                <a:lnTo>
                  <a:pt x="16202954" y="88199"/>
                </a:lnTo>
                <a:lnTo>
                  <a:pt x="16213254" y="137060"/>
                </a:lnTo>
                <a:lnTo>
                  <a:pt x="16213254" y="4051227"/>
                </a:lnTo>
                <a:lnTo>
                  <a:pt x="16202954" y="4100089"/>
                </a:lnTo>
                <a:lnTo>
                  <a:pt x="16171982" y="4146441"/>
                </a:lnTo>
                <a:lnTo>
                  <a:pt x="16125630" y="4177412"/>
                </a:lnTo>
                <a:lnTo>
                  <a:pt x="16070955" y="41882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419876" y="2936954"/>
            <a:ext cx="15005050" cy="422592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 marR="104139">
              <a:lnSpc>
                <a:spcPct val="100000"/>
              </a:lnSpc>
              <a:spcBef>
                <a:spcPts val="745"/>
              </a:spcBef>
            </a:pPr>
            <a:r>
              <a:rPr dirty="0" sz="3400" spc="-70">
                <a:solidFill>
                  <a:srgbClr val="737373"/>
                </a:solidFill>
                <a:latin typeface="Lucida Sans Unicode"/>
                <a:cs typeface="Lucida Sans Unicode"/>
              </a:rPr>
              <a:t>Tahapan</a:t>
            </a:r>
            <a:r>
              <a:rPr dirty="0" sz="3400" spc="-15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5">
                <a:solidFill>
                  <a:srgbClr val="737373"/>
                </a:solidFill>
                <a:latin typeface="Lucida Sans Unicode"/>
                <a:cs typeface="Lucida Sans Unicode"/>
              </a:rPr>
              <a:t>Enkripsi</a:t>
            </a:r>
            <a:r>
              <a:rPr dirty="0" sz="3400" spc="-14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737373"/>
                </a:solidFill>
                <a:latin typeface="Lucida Sans Unicode"/>
                <a:cs typeface="Lucida Sans Unicode"/>
              </a:rPr>
              <a:t>AES</a:t>
            </a:r>
            <a:endParaRPr sz="3400">
              <a:latin typeface="Lucida Sans Unicode"/>
              <a:cs typeface="Lucida Sans Unicode"/>
            </a:endParaRPr>
          </a:p>
          <a:p>
            <a:pPr algn="ctr" marR="104139">
              <a:lnSpc>
                <a:spcPct val="100000"/>
              </a:lnSpc>
              <a:spcBef>
                <a:spcPts val="645"/>
              </a:spcBef>
            </a:pPr>
            <a:r>
              <a:rPr dirty="0" sz="3400" spc="-35">
                <a:solidFill>
                  <a:srgbClr val="737373"/>
                </a:solidFill>
                <a:latin typeface="Lucida Sans Unicode"/>
                <a:cs typeface="Lucida Sans Unicode"/>
              </a:rPr>
              <a:t>SubBytes:</a:t>
            </a:r>
            <a:r>
              <a:rPr dirty="0" sz="3400" spc="-17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5">
                <a:solidFill>
                  <a:srgbClr val="737373"/>
                </a:solidFill>
                <a:latin typeface="Lucida Sans Unicode"/>
                <a:cs typeface="Lucida Sans Unicode"/>
              </a:rPr>
              <a:t>substitusi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5">
                <a:solidFill>
                  <a:srgbClr val="737373"/>
                </a:solidFill>
                <a:latin typeface="Lucida Sans Unicode"/>
                <a:cs typeface="Lucida Sans Unicode"/>
              </a:rPr>
              <a:t>byte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5">
                <a:solidFill>
                  <a:srgbClr val="737373"/>
                </a:solidFill>
                <a:latin typeface="Lucida Sans Unicode"/>
                <a:cs typeface="Lucida Sans Unicode"/>
              </a:rPr>
              <a:t>menggunakan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60">
                <a:solidFill>
                  <a:srgbClr val="737373"/>
                </a:solidFill>
                <a:latin typeface="Lucida Sans Unicode"/>
                <a:cs typeface="Lucida Sans Unicode"/>
              </a:rPr>
              <a:t>tabel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30">
                <a:solidFill>
                  <a:srgbClr val="737373"/>
                </a:solidFill>
                <a:latin typeface="Lucida Sans Unicode"/>
                <a:cs typeface="Lucida Sans Unicode"/>
              </a:rPr>
              <a:t>S-</a:t>
            </a:r>
            <a:r>
              <a:rPr dirty="0" sz="3400" spc="-20">
                <a:solidFill>
                  <a:srgbClr val="737373"/>
                </a:solidFill>
                <a:latin typeface="Lucida Sans Unicode"/>
                <a:cs typeface="Lucida Sans Unicode"/>
              </a:rPr>
              <a:t>box.</a:t>
            </a:r>
            <a:endParaRPr sz="3400">
              <a:latin typeface="Lucida Sans Unicode"/>
              <a:cs typeface="Lucida Sans Unicode"/>
            </a:endParaRPr>
          </a:p>
          <a:p>
            <a:pPr algn="ctr" marR="104139">
              <a:lnSpc>
                <a:spcPct val="100000"/>
              </a:lnSpc>
              <a:spcBef>
                <a:spcPts val="645"/>
              </a:spcBef>
            </a:pPr>
            <a:r>
              <a:rPr dirty="0" sz="3400" spc="-75">
                <a:solidFill>
                  <a:srgbClr val="737373"/>
                </a:solidFill>
                <a:latin typeface="Lucida Sans Unicode"/>
                <a:cs typeface="Lucida Sans Unicode"/>
              </a:rPr>
              <a:t>ShiftRows:</a:t>
            </a:r>
            <a:r>
              <a:rPr dirty="0" sz="3400" spc="-17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5">
                <a:solidFill>
                  <a:srgbClr val="737373"/>
                </a:solidFill>
                <a:latin typeface="Lucida Sans Unicode"/>
                <a:cs typeface="Lucida Sans Unicode"/>
              </a:rPr>
              <a:t>menggeser</a:t>
            </a:r>
            <a:r>
              <a:rPr dirty="0" sz="3400" spc="-17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70">
                <a:solidFill>
                  <a:srgbClr val="737373"/>
                </a:solidFill>
                <a:latin typeface="Lucida Sans Unicode"/>
                <a:cs typeface="Lucida Sans Unicode"/>
              </a:rPr>
              <a:t>baris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0">
                <a:solidFill>
                  <a:srgbClr val="737373"/>
                </a:solidFill>
                <a:latin typeface="Lucida Sans Unicode"/>
                <a:cs typeface="Lucida Sans Unicode"/>
              </a:rPr>
              <a:t>matriks</a:t>
            </a:r>
            <a:r>
              <a:rPr dirty="0" sz="3400" spc="-17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5">
                <a:solidFill>
                  <a:srgbClr val="737373"/>
                </a:solidFill>
                <a:latin typeface="Lucida Sans Unicode"/>
                <a:cs typeface="Lucida Sans Unicode"/>
              </a:rPr>
              <a:t>untuk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0">
                <a:solidFill>
                  <a:srgbClr val="737373"/>
                </a:solidFill>
                <a:latin typeface="Lucida Sans Unicode"/>
                <a:cs typeface="Lucida Sans Unicode"/>
              </a:rPr>
              <a:t>menyebar</a:t>
            </a:r>
            <a:r>
              <a:rPr dirty="0" sz="3400" spc="-17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737373"/>
                </a:solidFill>
                <a:latin typeface="Lucida Sans Unicode"/>
                <a:cs typeface="Lucida Sans Unicode"/>
              </a:rPr>
              <a:t>data.</a:t>
            </a:r>
            <a:endParaRPr sz="3400">
              <a:latin typeface="Lucida Sans Unicode"/>
              <a:cs typeface="Lucida Sans Unicode"/>
            </a:endParaRPr>
          </a:p>
          <a:p>
            <a:pPr algn="ctr" marR="104139">
              <a:lnSpc>
                <a:spcPct val="100000"/>
              </a:lnSpc>
              <a:spcBef>
                <a:spcPts val="645"/>
              </a:spcBef>
            </a:pPr>
            <a:r>
              <a:rPr dirty="0" sz="3400" spc="-114">
                <a:solidFill>
                  <a:srgbClr val="737373"/>
                </a:solidFill>
                <a:latin typeface="Lucida Sans Unicode"/>
                <a:cs typeface="Lucida Sans Unicode"/>
              </a:rPr>
              <a:t>MixColumns: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0">
                <a:solidFill>
                  <a:srgbClr val="737373"/>
                </a:solidFill>
                <a:latin typeface="Lucida Sans Unicode"/>
                <a:cs typeface="Lucida Sans Unicode"/>
              </a:rPr>
              <a:t>mencampur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5">
                <a:solidFill>
                  <a:srgbClr val="737373"/>
                </a:solidFill>
                <a:latin typeface="Lucida Sans Unicode"/>
                <a:cs typeface="Lucida Sans Unicode"/>
              </a:rPr>
              <a:t>kolom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75">
                <a:solidFill>
                  <a:srgbClr val="737373"/>
                </a:solidFill>
                <a:latin typeface="Lucida Sans Unicode"/>
                <a:cs typeface="Lucida Sans Unicode"/>
              </a:rPr>
              <a:t>agar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5">
                <a:solidFill>
                  <a:srgbClr val="737373"/>
                </a:solidFill>
                <a:latin typeface="Lucida Sans Unicode"/>
                <a:cs typeface="Lucida Sans Unicode"/>
              </a:rPr>
              <a:t>data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5">
                <a:solidFill>
                  <a:srgbClr val="737373"/>
                </a:solidFill>
                <a:latin typeface="Lucida Sans Unicode"/>
                <a:cs typeface="Lucida Sans Unicode"/>
              </a:rPr>
              <a:t>makin</a:t>
            </a:r>
            <a:r>
              <a:rPr dirty="0" sz="3400" spc="-16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737373"/>
                </a:solidFill>
                <a:latin typeface="Lucida Sans Unicode"/>
                <a:cs typeface="Lucida Sans Unicode"/>
              </a:rPr>
              <a:t>acak.</a:t>
            </a:r>
            <a:endParaRPr sz="3400">
              <a:latin typeface="Lucida Sans Unicode"/>
              <a:cs typeface="Lucida Sans Unicode"/>
            </a:endParaRPr>
          </a:p>
          <a:p>
            <a:pPr algn="ctr" marR="104139">
              <a:lnSpc>
                <a:spcPct val="100000"/>
              </a:lnSpc>
              <a:spcBef>
                <a:spcPts val="645"/>
              </a:spcBef>
            </a:pPr>
            <a:r>
              <a:rPr dirty="0" sz="3400" spc="-90">
                <a:solidFill>
                  <a:srgbClr val="737373"/>
                </a:solidFill>
                <a:latin typeface="Lucida Sans Unicode"/>
                <a:cs typeface="Lucida Sans Unicode"/>
              </a:rPr>
              <a:t>AddRoundKey:</a:t>
            </a:r>
            <a:r>
              <a:rPr dirty="0" sz="3400" spc="-17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75">
                <a:solidFill>
                  <a:srgbClr val="737373"/>
                </a:solidFill>
                <a:latin typeface="Lucida Sans Unicode"/>
                <a:cs typeface="Lucida Sans Unicode"/>
              </a:rPr>
              <a:t>setiap</a:t>
            </a:r>
            <a:r>
              <a:rPr dirty="0" sz="3400" spc="-17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5">
                <a:solidFill>
                  <a:srgbClr val="737373"/>
                </a:solidFill>
                <a:latin typeface="Lucida Sans Unicode"/>
                <a:cs typeface="Lucida Sans Unicode"/>
              </a:rPr>
              <a:t>byte</a:t>
            </a:r>
            <a:r>
              <a:rPr dirty="0" sz="3400" spc="-17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10">
                <a:solidFill>
                  <a:srgbClr val="737373"/>
                </a:solidFill>
                <a:latin typeface="Lucida Sans Unicode"/>
                <a:cs typeface="Lucida Sans Unicode"/>
              </a:rPr>
              <a:t>digabungkan</a:t>
            </a:r>
            <a:r>
              <a:rPr dirty="0" sz="3400" spc="-17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80">
                <a:solidFill>
                  <a:srgbClr val="737373"/>
                </a:solidFill>
                <a:latin typeface="Lucida Sans Unicode"/>
                <a:cs typeface="Lucida Sans Unicode"/>
              </a:rPr>
              <a:t>dengan</a:t>
            </a:r>
            <a:r>
              <a:rPr dirty="0" sz="3400" spc="-17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20">
                <a:solidFill>
                  <a:srgbClr val="737373"/>
                </a:solidFill>
                <a:latin typeface="Lucida Sans Unicode"/>
                <a:cs typeface="Lucida Sans Unicode"/>
              </a:rPr>
              <a:t>kunci</a:t>
            </a:r>
            <a:r>
              <a:rPr dirty="0" sz="3400" spc="-17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737373"/>
                </a:solidFill>
                <a:latin typeface="Lucida Sans Unicode"/>
                <a:cs typeface="Lucida Sans Unicode"/>
              </a:rPr>
              <a:t>round.</a:t>
            </a:r>
            <a:endParaRPr sz="3400">
              <a:latin typeface="Lucida Sans Unicode"/>
              <a:cs typeface="Lucida Sans Unicode"/>
            </a:endParaRPr>
          </a:p>
          <a:p>
            <a:pPr algn="ctr" marL="12065" marR="5080">
              <a:lnSpc>
                <a:spcPct val="115799"/>
              </a:lnSpc>
            </a:pPr>
            <a:r>
              <a:rPr dirty="0" sz="3400" spc="-20">
                <a:solidFill>
                  <a:srgbClr val="737373"/>
                </a:solidFill>
                <a:latin typeface="Lucida Sans Unicode"/>
                <a:cs typeface="Lucida Sans Unicode"/>
              </a:rPr>
              <a:t>Proses</a:t>
            </a:r>
            <a:r>
              <a:rPr dirty="0" sz="3400" spc="-18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10">
                <a:solidFill>
                  <a:srgbClr val="737373"/>
                </a:solidFill>
                <a:latin typeface="Lucida Sans Unicode"/>
                <a:cs typeface="Lucida Sans Unicode"/>
              </a:rPr>
              <a:t>ini</a:t>
            </a:r>
            <a:r>
              <a:rPr dirty="0" sz="3400" spc="-18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10">
                <a:solidFill>
                  <a:srgbClr val="737373"/>
                </a:solidFill>
                <a:latin typeface="Lucida Sans Unicode"/>
                <a:cs typeface="Lucida Sans Unicode"/>
              </a:rPr>
              <a:t>diulang</a:t>
            </a:r>
            <a:r>
              <a:rPr dirty="0" sz="3400" spc="-18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737373"/>
                </a:solidFill>
                <a:latin typeface="Lucida Sans Unicode"/>
                <a:cs typeface="Lucida Sans Unicode"/>
              </a:rPr>
              <a:t>beberapa</a:t>
            </a:r>
            <a:r>
              <a:rPr dirty="0" sz="3400" spc="-18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30">
                <a:solidFill>
                  <a:srgbClr val="737373"/>
                </a:solidFill>
                <a:latin typeface="Lucida Sans Unicode"/>
                <a:cs typeface="Lucida Sans Unicode"/>
              </a:rPr>
              <a:t>kali</a:t>
            </a:r>
            <a:r>
              <a:rPr dirty="0" sz="3400" spc="-18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4">
                <a:solidFill>
                  <a:srgbClr val="737373"/>
                </a:solidFill>
                <a:latin typeface="Lucida Sans Unicode"/>
                <a:cs typeface="Lucida Sans Unicode"/>
              </a:rPr>
              <a:t>(10,</a:t>
            </a:r>
            <a:r>
              <a:rPr dirty="0" sz="3400" spc="-18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35">
                <a:solidFill>
                  <a:srgbClr val="737373"/>
                </a:solidFill>
                <a:latin typeface="Lucida Sans Unicode"/>
                <a:cs typeface="Lucida Sans Unicode"/>
              </a:rPr>
              <a:t>12,</a:t>
            </a:r>
            <a:r>
              <a:rPr dirty="0" sz="3400" spc="-18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737373"/>
                </a:solidFill>
                <a:latin typeface="Lucida Sans Unicode"/>
                <a:cs typeface="Lucida Sans Unicode"/>
              </a:rPr>
              <a:t>atau</a:t>
            </a:r>
            <a:r>
              <a:rPr dirty="0" sz="3400" spc="-18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25">
                <a:solidFill>
                  <a:srgbClr val="737373"/>
                </a:solidFill>
                <a:latin typeface="Lucida Sans Unicode"/>
                <a:cs typeface="Lucida Sans Unicode"/>
              </a:rPr>
              <a:t>14</a:t>
            </a:r>
            <a:r>
              <a:rPr dirty="0" sz="3400" spc="-18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5">
                <a:solidFill>
                  <a:srgbClr val="737373"/>
                </a:solidFill>
                <a:latin typeface="Lucida Sans Unicode"/>
                <a:cs typeface="Lucida Sans Unicode"/>
              </a:rPr>
              <a:t>round</a:t>
            </a:r>
            <a:r>
              <a:rPr dirty="0" sz="3400" spc="-18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5">
                <a:solidFill>
                  <a:srgbClr val="737373"/>
                </a:solidFill>
                <a:latin typeface="Lucida Sans Unicode"/>
                <a:cs typeface="Lucida Sans Unicode"/>
              </a:rPr>
              <a:t>tergantung</a:t>
            </a:r>
            <a:r>
              <a:rPr dirty="0" sz="3400" spc="-18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737373"/>
                </a:solidFill>
                <a:latin typeface="Lucida Sans Unicode"/>
                <a:cs typeface="Lucida Sans Unicode"/>
              </a:rPr>
              <a:t>panjang kunci).</a:t>
            </a:r>
            <a:endParaRPr sz="34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759427" y="1906355"/>
            <a:ext cx="16242665" cy="4759960"/>
            <a:chOff x="759427" y="1906355"/>
            <a:chExt cx="16242665" cy="4759960"/>
          </a:xfrm>
        </p:grpSpPr>
        <p:sp>
          <p:nvSpPr>
            <p:cNvPr id="6" name="object 6" descr=""/>
            <p:cNvSpPr/>
            <p:nvPr/>
          </p:nvSpPr>
          <p:spPr>
            <a:xfrm>
              <a:off x="759427" y="1906355"/>
              <a:ext cx="16242665" cy="4759960"/>
            </a:xfrm>
            <a:custGeom>
              <a:avLst/>
              <a:gdLst/>
              <a:ahLst/>
              <a:cxnLst/>
              <a:rect l="l" t="t" r="r" b="b"/>
              <a:pathLst>
                <a:path w="16242665" h="4759959">
                  <a:moveTo>
                    <a:pt x="16099531" y="4759788"/>
                  </a:moveTo>
                  <a:lnTo>
                    <a:pt x="142875" y="4759788"/>
                  </a:lnTo>
                  <a:lnTo>
                    <a:pt x="114871" y="4757017"/>
                  </a:lnTo>
                  <a:lnTo>
                    <a:pt x="63607" y="4735783"/>
                  </a:lnTo>
                  <a:lnTo>
                    <a:pt x="24004" y="4696180"/>
                  </a:lnTo>
                  <a:lnTo>
                    <a:pt x="2770" y="4644917"/>
                  </a:lnTo>
                  <a:lnTo>
                    <a:pt x="0" y="4616913"/>
                  </a:lnTo>
                  <a:lnTo>
                    <a:pt x="0" y="142875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9" y="10875"/>
                  </a:lnTo>
                  <a:lnTo>
                    <a:pt x="142875" y="0"/>
                  </a:lnTo>
                  <a:lnTo>
                    <a:pt x="16099531" y="0"/>
                  </a:lnTo>
                  <a:lnTo>
                    <a:pt x="16154206" y="10875"/>
                  </a:lnTo>
                  <a:lnTo>
                    <a:pt x="16200558" y="41847"/>
                  </a:lnTo>
                  <a:lnTo>
                    <a:pt x="16231530" y="88199"/>
                  </a:lnTo>
                  <a:lnTo>
                    <a:pt x="16242406" y="142875"/>
                  </a:lnTo>
                  <a:lnTo>
                    <a:pt x="16242406" y="4616913"/>
                  </a:lnTo>
                  <a:lnTo>
                    <a:pt x="16231530" y="4671589"/>
                  </a:lnTo>
                  <a:lnTo>
                    <a:pt x="16200558" y="4717941"/>
                  </a:lnTo>
                  <a:lnTo>
                    <a:pt x="16154206" y="4748912"/>
                  </a:lnTo>
                  <a:lnTo>
                    <a:pt x="16099531" y="47597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4553" y="3292753"/>
              <a:ext cx="98900" cy="989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4553" y="3922117"/>
              <a:ext cx="98900" cy="9889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4553" y="4551482"/>
              <a:ext cx="98900" cy="989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4553" y="5495528"/>
              <a:ext cx="98900" cy="9889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4553" y="5810210"/>
              <a:ext cx="98900" cy="98899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646071" y="2204200"/>
            <a:ext cx="12783820" cy="413257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85725">
              <a:lnSpc>
                <a:spcPts val="2530"/>
              </a:lnSpc>
              <a:spcBef>
                <a:spcPts val="120"/>
              </a:spcBef>
            </a:pP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Integrasi</a:t>
            </a:r>
            <a:r>
              <a:rPr dirty="0" sz="2150" spc="-3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0">
                <a:solidFill>
                  <a:srgbClr val="4E4F2E"/>
                </a:solidFill>
                <a:latin typeface="Lucida Sans Unicode"/>
                <a:cs typeface="Lucida Sans Unicode"/>
              </a:rPr>
              <a:t>Priority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75">
                <a:solidFill>
                  <a:srgbClr val="4E4F2E"/>
                </a:solidFill>
                <a:latin typeface="Lucida Sans Unicode"/>
                <a:cs typeface="Lucida Sans Unicode"/>
              </a:rPr>
              <a:t>Queue</a:t>
            </a:r>
            <a:r>
              <a:rPr dirty="0" sz="2150" spc="-3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45">
                <a:solidFill>
                  <a:srgbClr val="4E4F2E"/>
                </a:solidFill>
                <a:latin typeface="Lucida Sans Unicode"/>
                <a:cs typeface="Lucida Sans Unicode"/>
              </a:rPr>
              <a:t>+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5">
                <a:solidFill>
                  <a:srgbClr val="4E4F2E"/>
                </a:solidFill>
                <a:latin typeface="Lucida Sans Unicode"/>
                <a:cs typeface="Lucida Sans Unicode"/>
              </a:rPr>
              <a:t>AES</a:t>
            </a:r>
            <a:endParaRPr sz="2150">
              <a:latin typeface="Lucida Sans Unicode"/>
              <a:cs typeface="Lucida Sans Unicode"/>
            </a:endParaRPr>
          </a:p>
          <a:p>
            <a:pPr marL="12700" marR="925830">
              <a:lnSpc>
                <a:spcPts val="2480"/>
              </a:lnSpc>
              <a:spcBef>
                <a:spcPts val="114"/>
              </a:spcBef>
            </a:pP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Integrasi</a:t>
            </a:r>
            <a:r>
              <a:rPr dirty="0" sz="2150" spc="1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dilakukan</a:t>
            </a:r>
            <a:r>
              <a:rPr dirty="0" sz="2150" spc="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4">
                <a:solidFill>
                  <a:srgbClr val="4E4F2E"/>
                </a:solidFill>
                <a:latin typeface="Lucida Sans Unicode"/>
                <a:cs typeface="Lucida Sans Unicode"/>
              </a:rPr>
              <a:t>dengan</a:t>
            </a:r>
            <a:r>
              <a:rPr dirty="0" sz="2150" spc="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65">
                <a:solidFill>
                  <a:srgbClr val="4E4F2E"/>
                </a:solidFill>
                <a:latin typeface="Lucida Sans Unicode"/>
                <a:cs typeface="Lucida Sans Unicode"/>
              </a:rPr>
              <a:t>cara</a:t>
            </a:r>
            <a:r>
              <a:rPr dirty="0" sz="2150" spc="1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85">
                <a:solidFill>
                  <a:srgbClr val="4E4F2E"/>
                </a:solidFill>
                <a:latin typeface="Lucida Sans Unicode"/>
                <a:cs typeface="Lucida Sans Unicode"/>
              </a:rPr>
              <a:t>mengatur</a:t>
            </a:r>
            <a:r>
              <a:rPr dirty="0" sz="2150" spc="1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urutan</a:t>
            </a:r>
            <a:r>
              <a:rPr dirty="0" sz="2150" spc="1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0">
                <a:solidFill>
                  <a:srgbClr val="4E4F2E"/>
                </a:solidFill>
                <a:latin typeface="Lucida Sans Unicode"/>
                <a:cs typeface="Lucida Sans Unicode"/>
              </a:rPr>
              <a:t>enkripsi/dekripsi</a:t>
            </a:r>
            <a:r>
              <a:rPr dirty="0" sz="2150" spc="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55">
                <a:solidFill>
                  <a:srgbClr val="4E4F2E"/>
                </a:solidFill>
                <a:latin typeface="Lucida Sans Unicode"/>
                <a:cs typeface="Lucida Sans Unicode"/>
              </a:rPr>
              <a:t>data</a:t>
            </a:r>
            <a:r>
              <a:rPr dirty="0" sz="2150" spc="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70">
                <a:solidFill>
                  <a:srgbClr val="4E4F2E"/>
                </a:solidFill>
                <a:latin typeface="Lucida Sans Unicode"/>
                <a:cs typeface="Lucida Sans Unicode"/>
              </a:rPr>
              <a:t>berdasarkan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prioritas:</a:t>
            </a:r>
            <a:endParaRPr sz="2150">
              <a:latin typeface="Lucida Sans Unicode"/>
              <a:cs typeface="Lucida Sans Unicode"/>
            </a:endParaRPr>
          </a:p>
          <a:p>
            <a:pPr marL="481330">
              <a:lnSpc>
                <a:spcPts val="2360"/>
              </a:lnSpc>
            </a:pPr>
            <a:r>
              <a:rPr dirty="0" sz="2150" spc="105">
                <a:solidFill>
                  <a:srgbClr val="4E4F2E"/>
                </a:solidFill>
                <a:latin typeface="Lucida Sans Unicode"/>
                <a:cs typeface="Lucida Sans Unicode"/>
              </a:rPr>
              <a:t>Data</a:t>
            </a:r>
            <a:r>
              <a:rPr dirty="0" sz="2150" spc="-4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4">
                <a:solidFill>
                  <a:srgbClr val="4E4F2E"/>
                </a:solidFill>
                <a:latin typeface="Lucida Sans Unicode"/>
                <a:cs typeface="Lucida Sans Unicode"/>
              </a:rPr>
              <a:t>dengan</a:t>
            </a:r>
            <a:r>
              <a:rPr dirty="0" sz="2150" spc="-4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prioritas</a:t>
            </a:r>
            <a:r>
              <a:rPr dirty="0" sz="2150" spc="-4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tinggi</a:t>
            </a:r>
            <a:r>
              <a:rPr dirty="0" sz="2150" spc="-4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05">
                <a:solidFill>
                  <a:srgbClr val="4E4F2E"/>
                </a:solidFill>
                <a:latin typeface="Lucida Sans Unicode"/>
                <a:cs typeface="Lucida Sans Unicode"/>
              </a:rPr>
              <a:t>(misalnya</a:t>
            </a:r>
            <a:r>
              <a:rPr dirty="0" sz="2150" spc="-4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55">
                <a:solidFill>
                  <a:srgbClr val="4E4F2E"/>
                </a:solidFill>
                <a:latin typeface="Lucida Sans Unicode"/>
                <a:cs typeface="Lucida Sans Unicode"/>
              </a:rPr>
              <a:t>data</a:t>
            </a:r>
            <a:r>
              <a:rPr dirty="0" sz="2150" spc="-4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pribadi,</a:t>
            </a:r>
            <a:r>
              <a:rPr dirty="0" sz="2150" spc="-4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transaksi</a:t>
            </a:r>
            <a:r>
              <a:rPr dirty="0" sz="2150" spc="-4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0">
                <a:solidFill>
                  <a:srgbClr val="4E4F2E"/>
                </a:solidFill>
                <a:latin typeface="Lucida Sans Unicode"/>
                <a:cs typeface="Lucida Sans Unicode"/>
              </a:rPr>
              <a:t>keuangan)</a:t>
            </a:r>
            <a:r>
              <a:rPr dirty="0" sz="2150" spc="-4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dienkripsi</a:t>
            </a:r>
            <a:endParaRPr sz="2150">
              <a:latin typeface="Lucida Sans Unicode"/>
              <a:cs typeface="Lucida Sans Unicode"/>
            </a:endParaRPr>
          </a:p>
          <a:p>
            <a:pPr marL="481330">
              <a:lnSpc>
                <a:spcPts val="2480"/>
              </a:lnSpc>
            </a:pP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terlebih</a:t>
            </a:r>
            <a:r>
              <a:rPr dirty="0" sz="2150" spc="1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dahulu.</a:t>
            </a:r>
            <a:endParaRPr sz="2150">
              <a:latin typeface="Lucida Sans Unicode"/>
              <a:cs typeface="Lucida Sans Unicode"/>
            </a:endParaRPr>
          </a:p>
          <a:p>
            <a:pPr marL="481330" marR="1438910">
              <a:lnSpc>
                <a:spcPts val="2480"/>
              </a:lnSpc>
              <a:spcBef>
                <a:spcPts val="114"/>
              </a:spcBef>
            </a:pPr>
            <a:r>
              <a:rPr dirty="0" sz="2150" spc="60">
                <a:solidFill>
                  <a:srgbClr val="4E4F2E"/>
                </a:solidFill>
                <a:latin typeface="Lucida Sans Unicode"/>
                <a:cs typeface="Lucida Sans Unicode"/>
              </a:rPr>
              <a:t>Sistem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priority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90">
                <a:solidFill>
                  <a:srgbClr val="4E4F2E"/>
                </a:solidFill>
                <a:latin typeface="Lucida Sans Unicode"/>
                <a:cs typeface="Lucida Sans Unicode"/>
              </a:rPr>
              <a:t>queue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85">
                <a:solidFill>
                  <a:srgbClr val="4E4F2E"/>
                </a:solidFill>
                <a:latin typeface="Lucida Sans Unicode"/>
                <a:cs typeface="Lucida Sans Unicode"/>
              </a:rPr>
              <a:t>mengelola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90">
                <a:solidFill>
                  <a:srgbClr val="4E4F2E"/>
                </a:solidFill>
                <a:latin typeface="Lucida Sans Unicode"/>
                <a:cs typeface="Lucida Sans Unicode"/>
              </a:rPr>
              <a:t>antrean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proses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enkripsi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45">
                <a:solidFill>
                  <a:srgbClr val="4E4F2E"/>
                </a:solidFill>
                <a:latin typeface="Lucida Sans Unicode"/>
                <a:cs typeface="Lucida Sans Unicode"/>
              </a:rPr>
              <a:t>agar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efisien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35">
                <a:solidFill>
                  <a:srgbClr val="4E4F2E"/>
                </a:solidFill>
                <a:latin typeface="Lucida Sans Unicode"/>
                <a:cs typeface="Lucida Sans Unicode"/>
              </a:rPr>
              <a:t>dan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tidak menumpuk.</a:t>
            </a:r>
            <a:endParaRPr sz="2150">
              <a:latin typeface="Lucida Sans Unicode"/>
              <a:cs typeface="Lucida Sans Unicode"/>
            </a:endParaRPr>
          </a:p>
          <a:p>
            <a:pPr marL="481330">
              <a:lnSpc>
                <a:spcPts val="2360"/>
              </a:lnSpc>
            </a:pP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Hasilnya: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65">
                <a:solidFill>
                  <a:srgbClr val="4E4F2E"/>
                </a:solidFill>
                <a:latin typeface="Lucida Sans Unicode"/>
                <a:cs typeface="Lucida Sans Unicode"/>
              </a:rPr>
              <a:t>peningkatan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70">
                <a:solidFill>
                  <a:srgbClr val="4E4F2E"/>
                </a:solidFill>
                <a:latin typeface="Lucida Sans Unicode"/>
                <a:cs typeface="Lucida Sans Unicode"/>
              </a:rPr>
              <a:t>kecepatan,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efisiensi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75">
                <a:solidFill>
                  <a:srgbClr val="4E4F2E"/>
                </a:solidFill>
                <a:latin typeface="Lucida Sans Unicode"/>
                <a:cs typeface="Lucida Sans Unicode"/>
              </a:rPr>
              <a:t>sumber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90">
                <a:solidFill>
                  <a:srgbClr val="4E4F2E"/>
                </a:solidFill>
                <a:latin typeface="Lucida Sans Unicode"/>
                <a:cs typeface="Lucida Sans Unicode"/>
              </a:rPr>
              <a:t>daya,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35">
                <a:solidFill>
                  <a:srgbClr val="4E4F2E"/>
                </a:solidFill>
                <a:latin typeface="Lucida Sans Unicode"/>
                <a:cs typeface="Lucida Sans Unicode"/>
              </a:rPr>
              <a:t>dan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30">
                <a:solidFill>
                  <a:srgbClr val="4E4F2E"/>
                </a:solidFill>
                <a:latin typeface="Lucida Sans Unicode"/>
                <a:cs typeface="Lucida Sans Unicode"/>
              </a:rPr>
              <a:t>keamanan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55">
                <a:solidFill>
                  <a:srgbClr val="4E4F2E"/>
                </a:solidFill>
                <a:latin typeface="Lucida Sans Unicode"/>
                <a:cs typeface="Lucida Sans Unicode"/>
              </a:rPr>
              <a:t>data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25">
                <a:solidFill>
                  <a:srgbClr val="4E4F2E"/>
                </a:solidFill>
                <a:latin typeface="Lucida Sans Unicode"/>
                <a:cs typeface="Lucida Sans Unicode"/>
              </a:rPr>
              <a:t>yang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lebih</a:t>
            </a:r>
            <a:endParaRPr sz="2150">
              <a:latin typeface="Lucida Sans Unicode"/>
              <a:cs typeface="Lucida Sans Unicode"/>
            </a:endParaRPr>
          </a:p>
          <a:p>
            <a:pPr marL="481330">
              <a:lnSpc>
                <a:spcPts val="2480"/>
              </a:lnSpc>
            </a:pP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adaptif.</a:t>
            </a:r>
            <a:endParaRPr sz="2150">
              <a:latin typeface="Lucida Sans Unicode"/>
              <a:cs typeface="Lucida Sans Unicode"/>
            </a:endParaRPr>
          </a:p>
          <a:p>
            <a:pPr marL="12700">
              <a:lnSpc>
                <a:spcPts val="2480"/>
              </a:lnSpc>
            </a:pPr>
            <a:r>
              <a:rPr dirty="0" sz="2150" spc="50">
                <a:solidFill>
                  <a:srgbClr val="4E4F2E"/>
                </a:solidFill>
                <a:latin typeface="Lucida Sans Unicode"/>
                <a:cs typeface="Lucida Sans Unicode"/>
              </a:rPr>
              <a:t>Contoh</a:t>
            </a:r>
            <a:r>
              <a:rPr dirty="0" sz="215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70">
                <a:solidFill>
                  <a:srgbClr val="4E4F2E"/>
                </a:solidFill>
                <a:latin typeface="Lucida Sans Unicode"/>
                <a:cs typeface="Lucida Sans Unicode"/>
              </a:rPr>
              <a:t>penerapan:</a:t>
            </a:r>
            <a:endParaRPr sz="2150">
              <a:latin typeface="Lucida Sans Unicode"/>
              <a:cs typeface="Lucida Sans Unicode"/>
            </a:endParaRPr>
          </a:p>
          <a:p>
            <a:pPr marL="481330" marR="2274570">
              <a:lnSpc>
                <a:spcPts val="2480"/>
              </a:lnSpc>
              <a:spcBef>
                <a:spcPts val="114"/>
              </a:spcBef>
            </a:pPr>
            <a:r>
              <a:rPr dirty="0" sz="2150" spc="60">
                <a:solidFill>
                  <a:srgbClr val="4E4F2E"/>
                </a:solidFill>
                <a:latin typeface="Lucida Sans Unicode"/>
                <a:cs typeface="Lucida Sans Unicode"/>
              </a:rPr>
              <a:t>Sistem</a:t>
            </a:r>
            <a:r>
              <a:rPr dirty="0" sz="215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55">
                <a:solidFill>
                  <a:srgbClr val="4E4F2E"/>
                </a:solidFill>
                <a:latin typeface="Lucida Sans Unicode"/>
                <a:cs typeface="Lucida Sans Unicode"/>
              </a:rPr>
              <a:t>cloud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storage: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5">
                <a:solidFill>
                  <a:srgbClr val="4E4F2E"/>
                </a:solidFill>
                <a:latin typeface="Lucida Sans Unicode"/>
                <a:cs typeface="Lucida Sans Unicode"/>
              </a:rPr>
              <a:t>file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95">
                <a:solidFill>
                  <a:srgbClr val="4E4F2E"/>
                </a:solidFill>
                <a:latin typeface="Lucida Sans Unicode"/>
                <a:cs typeface="Lucida Sans Unicode"/>
              </a:rPr>
              <a:t>rahasia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1215">
                <a:solidFill>
                  <a:srgbClr val="4E4F2E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30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prioritas</a:t>
            </a:r>
            <a:r>
              <a:rPr dirty="0" sz="215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5">
                <a:solidFill>
                  <a:srgbClr val="4E4F2E"/>
                </a:solidFill>
                <a:latin typeface="Lucida Sans Unicode"/>
                <a:cs typeface="Lucida Sans Unicode"/>
              </a:rPr>
              <a:t>tinggi,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dienkripsi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lebih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dulu. </a:t>
            </a:r>
            <a:r>
              <a:rPr dirty="0" sz="2150" spc="-125">
                <a:solidFill>
                  <a:srgbClr val="4E4F2E"/>
                </a:solidFill>
                <a:latin typeface="Lucida Sans Unicode"/>
                <a:cs typeface="Lucida Sans Unicode"/>
              </a:rPr>
              <a:t>IoT: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sensor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55">
                <a:solidFill>
                  <a:srgbClr val="4E4F2E"/>
                </a:solidFill>
                <a:latin typeface="Lucida Sans Unicode"/>
                <a:cs typeface="Lucida Sans Unicode"/>
              </a:rPr>
              <a:t>kritikal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1215">
                <a:solidFill>
                  <a:srgbClr val="4E4F2E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2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prioritas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5">
                <a:solidFill>
                  <a:srgbClr val="4E4F2E"/>
                </a:solidFill>
                <a:latin typeface="Lucida Sans Unicode"/>
                <a:cs typeface="Lucida Sans Unicode"/>
              </a:rPr>
              <a:t>tinggi,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5">
                <a:solidFill>
                  <a:srgbClr val="4E4F2E"/>
                </a:solidFill>
                <a:latin typeface="Lucida Sans Unicode"/>
                <a:cs typeface="Lucida Sans Unicode"/>
              </a:rPr>
              <a:t>dikirim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4">
                <a:solidFill>
                  <a:srgbClr val="4E4F2E"/>
                </a:solidFill>
                <a:latin typeface="Lucida Sans Unicode"/>
                <a:cs typeface="Lucida Sans Unicode"/>
              </a:rPr>
              <a:t>dengan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AES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terenkripsi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65">
                <a:solidFill>
                  <a:srgbClr val="4E4F2E"/>
                </a:solidFill>
                <a:latin typeface="Lucida Sans Unicode"/>
                <a:cs typeface="Lucida Sans Unicode"/>
              </a:rPr>
              <a:t>cepat.</a:t>
            </a:r>
            <a:endParaRPr sz="2150">
              <a:latin typeface="Lucida Sans Unicode"/>
              <a:cs typeface="Lucida Sans Unicode"/>
            </a:endParaRPr>
          </a:p>
          <a:p>
            <a:pPr marL="12700">
              <a:lnSpc>
                <a:spcPts val="2410"/>
              </a:lnSpc>
            </a:pPr>
            <a:r>
              <a:rPr dirty="0" sz="2150" spc="-50">
                <a:solidFill>
                  <a:srgbClr val="4E4F2E"/>
                </a:solidFill>
                <a:latin typeface="Lucida Sans Unicode"/>
                <a:cs typeface="Lucida Sans Unicode"/>
              </a:rPr>
              <a:t>.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9825" y="2506100"/>
            <a:ext cx="4029074" cy="12334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037084" y="3049356"/>
            <a:ext cx="16213455" cy="4188460"/>
            <a:chOff x="1037084" y="3049356"/>
            <a:chExt cx="16213455" cy="4188460"/>
          </a:xfrm>
        </p:grpSpPr>
        <p:sp>
          <p:nvSpPr>
            <p:cNvPr id="6" name="object 6" descr=""/>
            <p:cNvSpPr/>
            <p:nvPr/>
          </p:nvSpPr>
          <p:spPr>
            <a:xfrm>
              <a:off x="1037084" y="3049356"/>
              <a:ext cx="16213455" cy="4188460"/>
            </a:xfrm>
            <a:custGeom>
              <a:avLst/>
              <a:gdLst/>
              <a:ahLst/>
              <a:cxnLst/>
              <a:rect l="l" t="t" r="r" b="b"/>
              <a:pathLst>
                <a:path w="16213455" h="4188459">
                  <a:moveTo>
                    <a:pt x="16070955" y="4188287"/>
                  </a:moveTo>
                  <a:lnTo>
                    <a:pt x="142875" y="4188287"/>
                  </a:lnTo>
                  <a:lnTo>
                    <a:pt x="114871" y="4185517"/>
                  </a:lnTo>
                  <a:lnTo>
                    <a:pt x="63607" y="4164283"/>
                  </a:lnTo>
                  <a:lnTo>
                    <a:pt x="24004" y="4124680"/>
                  </a:lnTo>
                  <a:lnTo>
                    <a:pt x="2770" y="4073416"/>
                  </a:lnTo>
                  <a:lnTo>
                    <a:pt x="0" y="4045412"/>
                  </a:lnTo>
                  <a:lnTo>
                    <a:pt x="0" y="142875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9" y="10875"/>
                  </a:lnTo>
                  <a:lnTo>
                    <a:pt x="142875" y="0"/>
                  </a:lnTo>
                  <a:lnTo>
                    <a:pt x="16070955" y="0"/>
                  </a:lnTo>
                  <a:lnTo>
                    <a:pt x="16125630" y="10875"/>
                  </a:lnTo>
                  <a:lnTo>
                    <a:pt x="16171982" y="41847"/>
                  </a:lnTo>
                  <a:lnTo>
                    <a:pt x="16202954" y="88199"/>
                  </a:lnTo>
                  <a:lnTo>
                    <a:pt x="16213254" y="137060"/>
                  </a:lnTo>
                  <a:lnTo>
                    <a:pt x="16213254" y="4051227"/>
                  </a:lnTo>
                  <a:lnTo>
                    <a:pt x="16202954" y="4100089"/>
                  </a:lnTo>
                  <a:lnTo>
                    <a:pt x="16171982" y="4146441"/>
                  </a:lnTo>
                  <a:lnTo>
                    <a:pt x="16125630" y="4177412"/>
                  </a:lnTo>
                  <a:lnTo>
                    <a:pt x="16070955" y="4188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9770" y="4212741"/>
              <a:ext cx="112487" cy="11248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9770" y="4570654"/>
              <a:ext cx="112487" cy="11248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9770" y="4928567"/>
              <a:ext cx="112487" cy="11248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9770" y="5286481"/>
              <a:ext cx="112487" cy="112486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451644" y="3692213"/>
            <a:ext cx="9515475" cy="18338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2880"/>
              </a:lnSpc>
              <a:spcBef>
                <a:spcPts val="114"/>
              </a:spcBef>
            </a:pPr>
            <a:r>
              <a:rPr dirty="0" sz="2450" spc="114">
                <a:solidFill>
                  <a:srgbClr val="4E4F2E"/>
                </a:solidFill>
                <a:latin typeface="Lucida Sans Unicode"/>
                <a:cs typeface="Lucida Sans Unicode"/>
              </a:rPr>
              <a:t>Manfaat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4E4F2E"/>
                </a:solidFill>
                <a:latin typeface="Lucida Sans Unicode"/>
                <a:cs typeface="Lucida Sans Unicode"/>
              </a:rPr>
              <a:t>Integrasi</a:t>
            </a:r>
            <a:endParaRPr sz="2450">
              <a:latin typeface="Lucida Sans Unicode"/>
              <a:cs typeface="Lucida Sans Unicode"/>
            </a:endParaRPr>
          </a:p>
          <a:p>
            <a:pPr marL="545465">
              <a:lnSpc>
                <a:spcPts val="2820"/>
              </a:lnSpc>
            </a:pPr>
            <a:r>
              <a:rPr dirty="0" sz="2450" spc="-25">
                <a:solidFill>
                  <a:srgbClr val="4E4F2E"/>
                </a:solidFill>
                <a:latin typeface="Lucida Sans Unicode"/>
                <a:cs typeface="Lucida Sans Unicode"/>
              </a:rPr>
              <a:t>Efisiensi</a:t>
            </a:r>
            <a:r>
              <a:rPr dirty="0" sz="2450" spc="-13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55">
                <a:solidFill>
                  <a:srgbClr val="4E4F2E"/>
                </a:solidFill>
                <a:latin typeface="Lucida Sans Unicode"/>
                <a:cs typeface="Lucida Sans Unicode"/>
              </a:rPr>
              <a:t>waktu</a:t>
            </a:r>
            <a:r>
              <a:rPr dirty="0" sz="2450" spc="-13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4E4F2E"/>
                </a:solidFill>
                <a:latin typeface="Lucida Sans Unicode"/>
                <a:cs typeface="Lucida Sans Unicode"/>
              </a:rPr>
              <a:t>enkripsi</a:t>
            </a:r>
            <a:r>
              <a:rPr dirty="0" sz="2450" spc="-1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55">
                <a:solidFill>
                  <a:srgbClr val="4E4F2E"/>
                </a:solidFill>
                <a:latin typeface="Lucida Sans Unicode"/>
                <a:cs typeface="Lucida Sans Unicode"/>
              </a:rPr>
              <a:t>dan</a:t>
            </a:r>
            <a:r>
              <a:rPr dirty="0" sz="2450" spc="-13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4E4F2E"/>
                </a:solidFill>
                <a:latin typeface="Lucida Sans Unicode"/>
                <a:cs typeface="Lucida Sans Unicode"/>
              </a:rPr>
              <a:t>dekripsi.</a:t>
            </a:r>
            <a:endParaRPr sz="2450">
              <a:latin typeface="Lucida Sans Unicode"/>
              <a:cs typeface="Lucida Sans Unicode"/>
            </a:endParaRPr>
          </a:p>
          <a:p>
            <a:pPr marL="545465" marR="5080">
              <a:lnSpc>
                <a:spcPts val="2820"/>
              </a:lnSpc>
              <a:spcBef>
                <a:spcPts val="135"/>
              </a:spcBef>
            </a:pPr>
            <a:r>
              <a:rPr dirty="0" sz="2450" spc="125">
                <a:solidFill>
                  <a:srgbClr val="4E4F2E"/>
                </a:solidFill>
                <a:latin typeface="Lucida Sans Unicode"/>
                <a:cs typeface="Lucida Sans Unicode"/>
              </a:rPr>
              <a:t>Penggunaan</a:t>
            </a:r>
            <a:r>
              <a:rPr dirty="0" sz="2450" spc="-10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85">
                <a:solidFill>
                  <a:srgbClr val="4E4F2E"/>
                </a:solidFill>
                <a:latin typeface="Lucida Sans Unicode"/>
                <a:cs typeface="Lucida Sans Unicode"/>
              </a:rPr>
              <a:t>sumber</a:t>
            </a:r>
            <a:r>
              <a:rPr dirty="0" sz="245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210">
                <a:solidFill>
                  <a:srgbClr val="4E4F2E"/>
                </a:solidFill>
                <a:latin typeface="Lucida Sans Unicode"/>
                <a:cs typeface="Lucida Sans Unicode"/>
              </a:rPr>
              <a:t>daya</a:t>
            </a:r>
            <a:r>
              <a:rPr dirty="0" sz="2450" spc="-10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75">
                <a:solidFill>
                  <a:srgbClr val="4E4F2E"/>
                </a:solidFill>
                <a:latin typeface="Lucida Sans Unicode"/>
                <a:cs typeface="Lucida Sans Unicode"/>
              </a:rPr>
              <a:t>CPU</a:t>
            </a:r>
            <a:r>
              <a:rPr dirty="0" sz="245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45">
                <a:solidFill>
                  <a:srgbClr val="4E4F2E"/>
                </a:solidFill>
                <a:latin typeface="Lucida Sans Unicode"/>
                <a:cs typeface="Lucida Sans Unicode"/>
              </a:rPr>
              <a:t>yang</a:t>
            </a:r>
            <a:r>
              <a:rPr dirty="0" sz="245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lebih</a:t>
            </a:r>
            <a:r>
              <a:rPr dirty="0" sz="2450" spc="-10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4E4F2E"/>
                </a:solidFill>
                <a:latin typeface="Lucida Sans Unicode"/>
                <a:cs typeface="Lucida Sans Unicode"/>
              </a:rPr>
              <a:t>optimal. </a:t>
            </a:r>
            <a:r>
              <a:rPr dirty="0" sz="2450" spc="155">
                <a:solidFill>
                  <a:srgbClr val="4E4F2E"/>
                </a:solidFill>
                <a:latin typeface="Lucida Sans Unicode"/>
                <a:cs typeface="Lucida Sans Unicode"/>
              </a:rPr>
              <a:t>Keamanan</a:t>
            </a:r>
            <a:r>
              <a:rPr dirty="0" sz="2450" spc="-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85">
                <a:solidFill>
                  <a:srgbClr val="4E4F2E"/>
                </a:solidFill>
                <a:latin typeface="Lucida Sans Unicode"/>
                <a:cs typeface="Lucida Sans Unicode"/>
              </a:rPr>
              <a:t>adaptif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90">
                <a:solidFill>
                  <a:srgbClr val="4E4F2E"/>
                </a:solidFill>
                <a:latin typeface="Lucida Sans Unicode"/>
                <a:cs typeface="Lucida Sans Unicode"/>
              </a:rPr>
              <a:t>berdasarkan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 tingkat sensitivitas </a:t>
            </a:r>
            <a:r>
              <a:rPr dirty="0" sz="2450" spc="75">
                <a:solidFill>
                  <a:srgbClr val="4E4F2E"/>
                </a:solidFill>
                <a:latin typeface="Lucida Sans Unicode"/>
                <a:cs typeface="Lucida Sans Unicode"/>
              </a:rPr>
              <a:t>data. Cocok</a:t>
            </a:r>
            <a:r>
              <a:rPr dirty="0" sz="245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untuk</a:t>
            </a:r>
            <a:r>
              <a:rPr dirty="0" sz="245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55">
                <a:solidFill>
                  <a:srgbClr val="4E4F2E"/>
                </a:solidFill>
                <a:latin typeface="Lucida Sans Unicode"/>
                <a:cs typeface="Lucida Sans Unicode"/>
              </a:rPr>
              <a:t>sistem</a:t>
            </a:r>
            <a:r>
              <a:rPr dirty="0" sz="24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real-</a:t>
            </a:r>
            <a:r>
              <a:rPr dirty="0" sz="2450" spc="65">
                <a:solidFill>
                  <a:srgbClr val="4E4F2E"/>
                </a:solidFill>
                <a:latin typeface="Lucida Sans Unicode"/>
                <a:cs typeface="Lucida Sans Unicode"/>
              </a:rPr>
              <a:t>time</a:t>
            </a:r>
            <a:r>
              <a:rPr dirty="0" sz="245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55">
                <a:solidFill>
                  <a:srgbClr val="4E4F2E"/>
                </a:solidFill>
                <a:latin typeface="Lucida Sans Unicode"/>
                <a:cs typeface="Lucida Sans Unicode"/>
              </a:rPr>
              <a:t>dan</a:t>
            </a:r>
            <a:r>
              <a:rPr dirty="0" sz="24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0">
                <a:solidFill>
                  <a:srgbClr val="4E4F2E"/>
                </a:solidFill>
                <a:latin typeface="Lucida Sans Unicode"/>
                <a:cs typeface="Lucida Sans Unicode"/>
              </a:rPr>
              <a:t>IoT.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502252" y="1706330"/>
            <a:ext cx="16222344" cy="4956810"/>
            <a:chOff x="502252" y="1706330"/>
            <a:chExt cx="16222344" cy="4956810"/>
          </a:xfrm>
        </p:grpSpPr>
        <p:sp>
          <p:nvSpPr>
            <p:cNvPr id="6" name="object 6" descr=""/>
            <p:cNvSpPr/>
            <p:nvPr/>
          </p:nvSpPr>
          <p:spPr>
            <a:xfrm>
              <a:off x="502252" y="1706330"/>
              <a:ext cx="16222344" cy="4956810"/>
            </a:xfrm>
            <a:custGeom>
              <a:avLst/>
              <a:gdLst/>
              <a:ahLst/>
              <a:cxnLst/>
              <a:rect l="l" t="t" r="r" b="b"/>
              <a:pathLst>
                <a:path w="16222344" h="4956809">
                  <a:moveTo>
                    <a:pt x="16079338" y="4956723"/>
                  </a:moveTo>
                  <a:lnTo>
                    <a:pt x="142874" y="4956723"/>
                  </a:lnTo>
                  <a:lnTo>
                    <a:pt x="114871" y="4953952"/>
                  </a:lnTo>
                  <a:lnTo>
                    <a:pt x="63607" y="4932719"/>
                  </a:lnTo>
                  <a:lnTo>
                    <a:pt x="24004" y="4893116"/>
                  </a:lnTo>
                  <a:lnTo>
                    <a:pt x="2770" y="4841852"/>
                  </a:lnTo>
                  <a:lnTo>
                    <a:pt x="0" y="4813848"/>
                  </a:lnTo>
                  <a:lnTo>
                    <a:pt x="0" y="142874"/>
                  </a:lnTo>
                  <a:lnTo>
                    <a:pt x="10875" y="88199"/>
                  </a:lnTo>
                  <a:lnTo>
                    <a:pt x="41847" y="41847"/>
                  </a:lnTo>
                  <a:lnTo>
                    <a:pt x="88199" y="10875"/>
                  </a:lnTo>
                  <a:lnTo>
                    <a:pt x="142874" y="0"/>
                  </a:lnTo>
                  <a:lnTo>
                    <a:pt x="16079338" y="0"/>
                  </a:lnTo>
                  <a:lnTo>
                    <a:pt x="16134015" y="10875"/>
                  </a:lnTo>
                  <a:lnTo>
                    <a:pt x="16180367" y="41847"/>
                  </a:lnTo>
                  <a:lnTo>
                    <a:pt x="16211337" y="88199"/>
                  </a:lnTo>
                  <a:lnTo>
                    <a:pt x="16222213" y="142874"/>
                  </a:lnTo>
                  <a:lnTo>
                    <a:pt x="16222213" y="4813848"/>
                  </a:lnTo>
                  <a:lnTo>
                    <a:pt x="16211337" y="4868524"/>
                  </a:lnTo>
                  <a:lnTo>
                    <a:pt x="16180367" y="4914876"/>
                  </a:lnTo>
                  <a:lnTo>
                    <a:pt x="16134015" y="4945847"/>
                  </a:lnTo>
                  <a:lnTo>
                    <a:pt x="16079338" y="49567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4379" y="2719867"/>
              <a:ext cx="98853" cy="9885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4379" y="3348933"/>
              <a:ext cx="98853" cy="9885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4379" y="3663466"/>
              <a:ext cx="98853" cy="9885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4379" y="3978000"/>
              <a:ext cx="98853" cy="9885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4379" y="4607066"/>
              <a:ext cx="98853" cy="9885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4379" y="4921599"/>
              <a:ext cx="98853" cy="9885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4379" y="5550665"/>
              <a:ext cx="98853" cy="98852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016000" y="1946356"/>
            <a:ext cx="12372975" cy="44450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85725">
              <a:lnSpc>
                <a:spcPts val="2530"/>
              </a:lnSpc>
              <a:spcBef>
                <a:spcPts val="120"/>
              </a:spcBef>
            </a:pP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Hasil</a:t>
            </a:r>
            <a:r>
              <a:rPr dirty="0" sz="2150" spc="-4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Studi</a:t>
            </a:r>
            <a:r>
              <a:rPr dirty="0" sz="2150" spc="-4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Literatur</a:t>
            </a:r>
            <a:endParaRPr sz="2150">
              <a:latin typeface="Lucida Sans Unicode"/>
              <a:cs typeface="Lucida Sans Unicode"/>
            </a:endParaRPr>
          </a:p>
          <a:p>
            <a:pPr marL="12700">
              <a:lnSpc>
                <a:spcPts val="2475"/>
              </a:lnSpc>
            </a:pPr>
            <a:r>
              <a:rPr dirty="0" sz="2150" spc="75">
                <a:solidFill>
                  <a:srgbClr val="4E4F2E"/>
                </a:solidFill>
                <a:latin typeface="Lucida Sans Unicode"/>
                <a:cs typeface="Lucida Sans Unicode"/>
              </a:rPr>
              <a:t>Berdasarkan</a:t>
            </a:r>
            <a:r>
              <a:rPr dirty="0" sz="2150" spc="2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penelitian-penelitian</a:t>
            </a:r>
            <a:r>
              <a:rPr dirty="0" sz="2150" spc="2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terdahulu:</a:t>
            </a:r>
            <a:endParaRPr sz="2150">
              <a:latin typeface="Lucida Sans Unicode"/>
              <a:cs typeface="Lucida Sans Unicode"/>
            </a:endParaRPr>
          </a:p>
          <a:p>
            <a:pPr marL="480695" marR="360045">
              <a:lnSpc>
                <a:spcPts val="2480"/>
              </a:lnSpc>
              <a:spcBef>
                <a:spcPts val="110"/>
              </a:spcBef>
            </a:pP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AES</a:t>
            </a:r>
            <a:r>
              <a:rPr dirty="0" sz="215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45">
                <a:solidFill>
                  <a:srgbClr val="4E4F2E"/>
                </a:solidFill>
                <a:latin typeface="Lucida Sans Unicode"/>
                <a:cs typeface="Lucida Sans Unicode"/>
              </a:rPr>
              <a:t>+</a:t>
            </a:r>
            <a:r>
              <a:rPr dirty="0" sz="21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65">
                <a:solidFill>
                  <a:srgbClr val="4E4F2E"/>
                </a:solidFill>
                <a:latin typeface="Lucida Sans Unicode"/>
                <a:cs typeface="Lucida Sans Unicode"/>
              </a:rPr>
              <a:t>Steganografi</a:t>
            </a:r>
            <a:r>
              <a:rPr dirty="0" sz="21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45">
                <a:solidFill>
                  <a:srgbClr val="4E4F2E"/>
                </a:solidFill>
                <a:latin typeface="Lucida Sans Unicode"/>
                <a:cs typeface="Lucida Sans Unicode"/>
              </a:rPr>
              <a:t>(Rahman</a:t>
            </a:r>
            <a:r>
              <a:rPr dirty="0" sz="21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60">
                <a:solidFill>
                  <a:srgbClr val="4E4F2E"/>
                </a:solidFill>
                <a:latin typeface="Lucida Sans Unicode"/>
                <a:cs typeface="Lucida Sans Unicode"/>
              </a:rPr>
              <a:t>et</a:t>
            </a:r>
            <a:r>
              <a:rPr dirty="0" sz="21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85">
                <a:solidFill>
                  <a:srgbClr val="4E4F2E"/>
                </a:solidFill>
                <a:latin typeface="Lucida Sans Unicode"/>
                <a:cs typeface="Lucida Sans Unicode"/>
              </a:rPr>
              <a:t>al., </a:t>
            </a:r>
            <a:r>
              <a:rPr dirty="0" sz="2150" spc="-65">
                <a:solidFill>
                  <a:srgbClr val="4E4F2E"/>
                </a:solidFill>
                <a:latin typeface="Lucida Sans Unicode"/>
                <a:cs typeface="Lucida Sans Unicode"/>
              </a:rPr>
              <a:t>2022):</a:t>
            </a:r>
            <a:r>
              <a:rPr dirty="0" sz="21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55">
                <a:solidFill>
                  <a:srgbClr val="4E4F2E"/>
                </a:solidFill>
                <a:latin typeface="Lucida Sans Unicode"/>
                <a:cs typeface="Lucida Sans Unicode"/>
              </a:rPr>
              <a:t>meningkatkan</a:t>
            </a:r>
            <a:r>
              <a:rPr dirty="0" sz="21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85">
                <a:solidFill>
                  <a:srgbClr val="4E4F2E"/>
                </a:solidFill>
                <a:latin typeface="Lucida Sans Unicode"/>
                <a:cs typeface="Lucida Sans Unicode"/>
              </a:rPr>
              <a:t>kerahasiaan</a:t>
            </a:r>
            <a:r>
              <a:rPr dirty="0" sz="21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4">
                <a:solidFill>
                  <a:srgbClr val="4E4F2E"/>
                </a:solidFill>
                <a:latin typeface="Lucida Sans Unicode"/>
                <a:cs typeface="Lucida Sans Unicode"/>
              </a:rPr>
              <a:t>namun</a:t>
            </a:r>
            <a:r>
              <a:rPr dirty="0" sz="21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waktu enkripsi</a:t>
            </a:r>
            <a:r>
              <a:rPr dirty="0" sz="21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lebih</a:t>
            </a:r>
            <a:r>
              <a:rPr dirty="0" sz="21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65">
                <a:solidFill>
                  <a:srgbClr val="4E4F2E"/>
                </a:solidFill>
                <a:latin typeface="Lucida Sans Unicode"/>
                <a:cs typeface="Lucida Sans Unicode"/>
              </a:rPr>
              <a:t>lama.</a:t>
            </a:r>
            <a:endParaRPr sz="2150">
              <a:latin typeface="Lucida Sans Unicode"/>
              <a:cs typeface="Lucida Sans Unicode"/>
            </a:endParaRPr>
          </a:p>
          <a:p>
            <a:pPr marL="480695">
              <a:lnSpc>
                <a:spcPts val="2355"/>
              </a:lnSpc>
            </a:pPr>
            <a:r>
              <a:rPr dirty="0" sz="2150" spc="-25">
                <a:solidFill>
                  <a:srgbClr val="4E4F2E"/>
                </a:solidFill>
                <a:latin typeface="Lucida Sans Unicode"/>
                <a:cs typeface="Lucida Sans Unicode"/>
              </a:rPr>
              <a:t>AES-</a:t>
            </a:r>
            <a:r>
              <a:rPr dirty="0" sz="2150" spc="-40">
                <a:solidFill>
                  <a:srgbClr val="4E4F2E"/>
                </a:solidFill>
                <a:latin typeface="Lucida Sans Unicode"/>
                <a:cs typeface="Lucida Sans Unicode"/>
              </a:rPr>
              <a:t>256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di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50">
                <a:solidFill>
                  <a:srgbClr val="4E4F2E"/>
                </a:solidFill>
                <a:latin typeface="Lucida Sans Unicode"/>
                <a:cs typeface="Lucida Sans Unicode"/>
              </a:rPr>
              <a:t>Cloud</a:t>
            </a:r>
            <a:r>
              <a:rPr dirty="0" sz="215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35">
                <a:solidFill>
                  <a:srgbClr val="4E4F2E"/>
                </a:solidFill>
                <a:latin typeface="Lucida Sans Unicode"/>
                <a:cs typeface="Lucida Sans Unicode"/>
              </a:rPr>
              <a:t>(Wijaya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90">
                <a:solidFill>
                  <a:srgbClr val="4E4F2E"/>
                </a:solidFill>
                <a:latin typeface="Lucida Sans Unicode"/>
                <a:cs typeface="Lucida Sans Unicode"/>
              </a:rPr>
              <a:t>&amp;</a:t>
            </a:r>
            <a:r>
              <a:rPr dirty="0" sz="215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Hasan,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2023):</a:t>
            </a:r>
            <a:r>
              <a:rPr dirty="0" sz="215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95">
                <a:solidFill>
                  <a:srgbClr val="4E4F2E"/>
                </a:solidFill>
                <a:latin typeface="Lucida Sans Unicode"/>
                <a:cs typeface="Lucida Sans Unicode"/>
              </a:rPr>
              <a:t>aman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35">
                <a:solidFill>
                  <a:srgbClr val="4E4F2E"/>
                </a:solidFill>
                <a:latin typeface="Lucida Sans Unicode"/>
                <a:cs typeface="Lucida Sans Unicode"/>
              </a:rPr>
              <a:t>dan</a:t>
            </a:r>
            <a:r>
              <a:rPr dirty="0" sz="215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efisien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untuk</a:t>
            </a:r>
            <a:r>
              <a:rPr dirty="0" sz="2150" spc="-6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05">
                <a:solidFill>
                  <a:srgbClr val="4E4F2E"/>
                </a:solidFill>
                <a:latin typeface="Lucida Sans Unicode"/>
                <a:cs typeface="Lucida Sans Unicode"/>
              </a:rPr>
              <a:t>penyimpanan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65">
                <a:solidFill>
                  <a:srgbClr val="4E4F2E"/>
                </a:solidFill>
                <a:latin typeface="Lucida Sans Unicode"/>
                <a:cs typeface="Lucida Sans Unicode"/>
              </a:rPr>
              <a:t>data.</a:t>
            </a:r>
            <a:endParaRPr sz="2150">
              <a:latin typeface="Lucida Sans Unicode"/>
              <a:cs typeface="Lucida Sans Unicode"/>
            </a:endParaRPr>
          </a:p>
          <a:p>
            <a:pPr marL="480695" marR="5080">
              <a:lnSpc>
                <a:spcPts val="2480"/>
              </a:lnSpc>
              <a:spcBef>
                <a:spcPts val="114"/>
              </a:spcBef>
            </a:pP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AES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55">
                <a:solidFill>
                  <a:srgbClr val="4E4F2E"/>
                </a:solidFill>
                <a:latin typeface="Lucida Sans Unicode"/>
                <a:cs typeface="Lucida Sans Unicode"/>
              </a:rPr>
              <a:t>vs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00">
                <a:solidFill>
                  <a:srgbClr val="4E4F2E"/>
                </a:solidFill>
                <a:latin typeface="Lucida Sans Unicode"/>
                <a:cs typeface="Lucida Sans Unicode"/>
              </a:rPr>
              <a:t>ChaCha20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35">
                <a:solidFill>
                  <a:srgbClr val="4E4F2E"/>
                </a:solidFill>
                <a:latin typeface="Lucida Sans Unicode"/>
                <a:cs typeface="Lucida Sans Unicode"/>
              </a:rPr>
              <a:t>(Wijaya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90">
                <a:solidFill>
                  <a:srgbClr val="4E4F2E"/>
                </a:solidFill>
                <a:latin typeface="Lucida Sans Unicode"/>
                <a:cs typeface="Lucida Sans Unicode"/>
              </a:rPr>
              <a:t>&amp;</a:t>
            </a:r>
            <a:r>
              <a:rPr dirty="0" sz="2150" spc="-5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Hasan,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2023):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AES</a:t>
            </a:r>
            <a:r>
              <a:rPr dirty="0" sz="2150" spc="-5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unggul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di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desktop,</a:t>
            </a:r>
            <a:r>
              <a:rPr dirty="0" sz="2150" spc="-6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00">
                <a:solidFill>
                  <a:srgbClr val="4E4F2E"/>
                </a:solidFill>
                <a:latin typeface="Lucida Sans Unicode"/>
                <a:cs typeface="Lucida Sans Unicode"/>
              </a:rPr>
              <a:t>ChaCha20</a:t>
            </a:r>
            <a:r>
              <a:rPr dirty="0" sz="2150" spc="-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di</a:t>
            </a:r>
            <a:r>
              <a:rPr dirty="0" sz="2150" spc="-5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mobile. </a:t>
            </a:r>
            <a:r>
              <a:rPr dirty="0" sz="2150" spc="-25">
                <a:solidFill>
                  <a:srgbClr val="4E4F2E"/>
                </a:solidFill>
                <a:latin typeface="Lucida Sans Unicode"/>
                <a:cs typeface="Lucida Sans Unicode"/>
              </a:rPr>
              <a:t>AES-</a:t>
            </a:r>
            <a:r>
              <a:rPr dirty="0" sz="2150" spc="95">
                <a:solidFill>
                  <a:srgbClr val="4E4F2E"/>
                </a:solidFill>
                <a:latin typeface="Lucida Sans Unicode"/>
                <a:cs typeface="Lucida Sans Unicode"/>
              </a:rPr>
              <a:t>GCM</a:t>
            </a:r>
            <a:r>
              <a:rPr dirty="0" sz="2150" spc="-3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95">
                <a:solidFill>
                  <a:srgbClr val="4E4F2E"/>
                </a:solidFill>
                <a:latin typeface="Lucida Sans Unicode"/>
                <a:cs typeface="Lucida Sans Unicode"/>
              </a:rPr>
              <a:t>(Zhang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60">
                <a:solidFill>
                  <a:srgbClr val="4E4F2E"/>
                </a:solidFill>
                <a:latin typeface="Lucida Sans Unicode"/>
                <a:cs typeface="Lucida Sans Unicode"/>
              </a:rPr>
              <a:t>et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85">
                <a:solidFill>
                  <a:srgbClr val="4E4F2E"/>
                </a:solidFill>
                <a:latin typeface="Lucida Sans Unicode"/>
                <a:cs typeface="Lucida Sans Unicode"/>
              </a:rPr>
              <a:t>al.,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35">
                <a:solidFill>
                  <a:srgbClr val="4E4F2E"/>
                </a:solidFill>
                <a:latin typeface="Lucida Sans Unicode"/>
                <a:cs typeface="Lucida Sans Unicode"/>
              </a:rPr>
              <a:t>2020):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60">
                <a:solidFill>
                  <a:srgbClr val="4E4F2E"/>
                </a:solidFill>
                <a:latin typeface="Lucida Sans Unicode"/>
                <a:cs typeface="Lucida Sans Unicode"/>
              </a:rPr>
              <a:t>mendukung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autentikasi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sekaligus</a:t>
            </a:r>
            <a:r>
              <a:rPr dirty="0" sz="2150" spc="-3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enkripsi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65">
                <a:solidFill>
                  <a:srgbClr val="4E4F2E"/>
                </a:solidFill>
                <a:latin typeface="Lucida Sans Unicode"/>
                <a:cs typeface="Lucida Sans Unicode"/>
              </a:rPr>
              <a:t>cepat.</a:t>
            </a:r>
            <a:endParaRPr sz="2150">
              <a:latin typeface="Lucida Sans Unicode"/>
              <a:cs typeface="Lucida Sans Unicode"/>
            </a:endParaRPr>
          </a:p>
          <a:p>
            <a:pPr marL="12700">
              <a:lnSpc>
                <a:spcPts val="2355"/>
              </a:lnSpc>
            </a:pPr>
            <a:r>
              <a:rPr dirty="0" sz="2150" spc="50">
                <a:solidFill>
                  <a:srgbClr val="4E4F2E"/>
                </a:solidFill>
                <a:latin typeface="Lucida Sans Unicode"/>
                <a:cs typeface="Lucida Sans Unicode"/>
              </a:rPr>
              <a:t>Kesimpulan</a:t>
            </a:r>
            <a:r>
              <a:rPr dirty="0" sz="2150" spc="-10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literatur:</a:t>
            </a:r>
            <a:endParaRPr sz="2150">
              <a:latin typeface="Lucida Sans Unicode"/>
              <a:cs typeface="Lucida Sans Unicode"/>
            </a:endParaRPr>
          </a:p>
          <a:p>
            <a:pPr marL="480695" marR="998219">
              <a:lnSpc>
                <a:spcPts val="2480"/>
              </a:lnSpc>
              <a:spcBef>
                <a:spcPts val="114"/>
              </a:spcBef>
            </a:pP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AES</a:t>
            </a:r>
            <a:r>
              <a:rPr dirty="0" sz="21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90">
                <a:solidFill>
                  <a:srgbClr val="4E4F2E"/>
                </a:solidFill>
                <a:latin typeface="Lucida Sans Unicode"/>
                <a:cs typeface="Lucida Sans Unicode"/>
              </a:rPr>
              <a:t>tetap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75">
                <a:solidFill>
                  <a:srgbClr val="4E4F2E"/>
                </a:solidFill>
                <a:latin typeface="Lucida Sans Unicode"/>
                <a:cs typeface="Lucida Sans Unicode"/>
              </a:rPr>
              <a:t>menjadi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85">
                <a:solidFill>
                  <a:srgbClr val="4E4F2E"/>
                </a:solidFill>
                <a:latin typeface="Lucida Sans Unicode"/>
                <a:cs typeface="Lucida Sans Unicode"/>
              </a:rPr>
              <a:t>standar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kriptografi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simetris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4">
                <a:solidFill>
                  <a:srgbClr val="4E4F2E"/>
                </a:solidFill>
                <a:latin typeface="Lucida Sans Unicode"/>
                <a:cs typeface="Lucida Sans Unicode"/>
              </a:rPr>
              <a:t>teraman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35">
                <a:solidFill>
                  <a:srgbClr val="4E4F2E"/>
                </a:solidFill>
                <a:latin typeface="Lucida Sans Unicode"/>
                <a:cs typeface="Lucida Sans Unicode"/>
              </a:rPr>
              <a:t>dan</a:t>
            </a:r>
            <a:r>
              <a:rPr dirty="0" sz="2150" spc="-8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45">
                <a:solidFill>
                  <a:srgbClr val="4E4F2E"/>
                </a:solidFill>
                <a:latin typeface="Lucida Sans Unicode"/>
                <a:cs typeface="Lucida Sans Unicode"/>
              </a:rPr>
              <a:t>tercepat.</a:t>
            </a:r>
            <a:r>
              <a:rPr dirty="0" sz="2150" spc="535">
                <a:solidFill>
                  <a:srgbClr val="4E4F2E"/>
                </a:solidFill>
                <a:latin typeface="Lucida Sans Unicode"/>
                <a:cs typeface="Lucida Sans Unicode"/>
              </a:rPr>
              <a:t> 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Penelitian</a:t>
            </a:r>
            <a:r>
              <a:rPr dirty="0" sz="2150" spc="-1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90">
                <a:solidFill>
                  <a:srgbClr val="4E4F2E"/>
                </a:solidFill>
                <a:latin typeface="Lucida Sans Unicode"/>
                <a:cs typeface="Lucida Sans Unicode"/>
              </a:rPr>
              <a:t>masa</a:t>
            </a:r>
            <a:r>
              <a:rPr dirty="0" sz="2150" spc="-1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30">
                <a:solidFill>
                  <a:srgbClr val="4E4F2E"/>
                </a:solidFill>
                <a:latin typeface="Lucida Sans Unicode"/>
                <a:cs typeface="Lucida Sans Unicode"/>
              </a:rPr>
              <a:t>depan</a:t>
            </a:r>
            <a:r>
              <a:rPr dirty="0" sz="2150" spc="-1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0">
                <a:solidFill>
                  <a:srgbClr val="4E4F2E"/>
                </a:solidFill>
                <a:latin typeface="Lucida Sans Unicode"/>
                <a:cs typeface="Lucida Sans Unicode"/>
              </a:rPr>
              <a:t>fokus</a:t>
            </a:r>
            <a:r>
              <a:rPr dirty="0" sz="2150" spc="-1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85">
                <a:solidFill>
                  <a:srgbClr val="4E4F2E"/>
                </a:solidFill>
                <a:latin typeface="Lucida Sans Unicode"/>
                <a:cs typeface="Lucida Sans Unicode"/>
              </a:rPr>
              <a:t>pada</a:t>
            </a:r>
            <a:r>
              <a:rPr dirty="0" sz="2150" spc="-1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lightweight</a:t>
            </a:r>
            <a:r>
              <a:rPr dirty="0" sz="2150" spc="-1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65">
                <a:solidFill>
                  <a:srgbClr val="4E4F2E"/>
                </a:solidFill>
                <a:latin typeface="Lucida Sans Unicode"/>
                <a:cs typeface="Lucida Sans Unicode"/>
              </a:rPr>
              <a:t>AES,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75">
                <a:solidFill>
                  <a:srgbClr val="4E4F2E"/>
                </a:solidFill>
                <a:latin typeface="Lucida Sans Unicode"/>
                <a:cs typeface="Lucida Sans Unicode"/>
              </a:rPr>
              <a:t>AI-</a:t>
            </a:r>
            <a:r>
              <a:rPr dirty="0" sz="2150" spc="55">
                <a:solidFill>
                  <a:srgbClr val="4E4F2E"/>
                </a:solidFill>
                <a:latin typeface="Lucida Sans Unicode"/>
                <a:cs typeface="Lucida Sans Unicode"/>
              </a:rPr>
              <a:t>assisted</a:t>
            </a:r>
            <a:r>
              <a:rPr dirty="0" sz="2150" spc="-2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encryption,</a:t>
            </a:r>
            <a:r>
              <a:rPr dirty="0" sz="2150" spc="-1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0">
                <a:solidFill>
                  <a:srgbClr val="4E4F2E"/>
                </a:solidFill>
                <a:latin typeface="Lucida Sans Unicode"/>
                <a:cs typeface="Lucida Sans Unicode"/>
              </a:rPr>
              <a:t>dan </a:t>
            </a:r>
            <a:r>
              <a:rPr dirty="0" sz="2150" spc="75">
                <a:solidFill>
                  <a:srgbClr val="4E4F2E"/>
                </a:solidFill>
                <a:latin typeface="Lucida Sans Unicode"/>
                <a:cs typeface="Lucida Sans Unicode"/>
              </a:rPr>
              <a:t>quantum-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resistant</a:t>
            </a:r>
            <a:r>
              <a:rPr dirty="0" sz="2150" spc="15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20">
                <a:solidFill>
                  <a:srgbClr val="4E4F2E"/>
                </a:solidFill>
                <a:latin typeface="Lucida Sans Unicode"/>
                <a:cs typeface="Lucida Sans Unicode"/>
              </a:rPr>
              <a:t>AES.</a:t>
            </a:r>
            <a:endParaRPr sz="2150">
              <a:latin typeface="Lucida Sans Unicode"/>
              <a:cs typeface="Lucida Sans Unicode"/>
            </a:endParaRPr>
          </a:p>
          <a:p>
            <a:pPr marL="480695">
              <a:lnSpc>
                <a:spcPts val="2350"/>
              </a:lnSpc>
            </a:pP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Integrasi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AES</a:t>
            </a:r>
            <a:r>
              <a:rPr dirty="0" sz="21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4">
                <a:solidFill>
                  <a:srgbClr val="4E4F2E"/>
                </a:solidFill>
                <a:latin typeface="Lucida Sans Unicode"/>
                <a:cs typeface="Lucida Sans Unicode"/>
              </a:rPr>
              <a:t>dengan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sistem</a:t>
            </a:r>
            <a:r>
              <a:rPr dirty="0" sz="21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0">
                <a:solidFill>
                  <a:srgbClr val="4E4F2E"/>
                </a:solidFill>
                <a:latin typeface="Lucida Sans Unicode"/>
                <a:cs typeface="Lucida Sans Unicode"/>
              </a:rPr>
              <a:t>cerdas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E4F2E"/>
                </a:solidFill>
                <a:latin typeface="Lucida Sans Unicode"/>
                <a:cs typeface="Lucida Sans Unicode"/>
              </a:rPr>
              <a:t>seperti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priority</a:t>
            </a:r>
            <a:r>
              <a:rPr dirty="0" sz="21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90">
                <a:solidFill>
                  <a:srgbClr val="4E4F2E"/>
                </a:solidFill>
                <a:latin typeface="Lucida Sans Unicode"/>
                <a:cs typeface="Lucida Sans Unicode"/>
              </a:rPr>
              <a:t>queue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4">
                <a:solidFill>
                  <a:srgbClr val="4E4F2E"/>
                </a:solidFill>
                <a:latin typeface="Lucida Sans Unicode"/>
                <a:cs typeface="Lucida Sans Unicode"/>
              </a:rPr>
              <a:t>membuka</a:t>
            </a:r>
            <a:r>
              <a:rPr dirty="0" sz="21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85">
                <a:solidFill>
                  <a:srgbClr val="4E4F2E"/>
                </a:solidFill>
                <a:latin typeface="Lucida Sans Unicode"/>
                <a:cs typeface="Lucida Sans Unicode"/>
              </a:rPr>
              <a:t>peluang</a:t>
            </a:r>
            <a:r>
              <a:rPr dirty="0" sz="2150" spc="-3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efisiensi</a:t>
            </a:r>
            <a:endParaRPr sz="2150">
              <a:latin typeface="Lucida Sans Unicode"/>
              <a:cs typeface="Lucida Sans Unicode"/>
            </a:endParaRPr>
          </a:p>
          <a:p>
            <a:pPr marL="480695">
              <a:lnSpc>
                <a:spcPts val="2475"/>
              </a:lnSpc>
            </a:pPr>
            <a:r>
              <a:rPr dirty="0" sz="2150" spc="-10">
                <a:solidFill>
                  <a:srgbClr val="4E4F2E"/>
                </a:solidFill>
                <a:latin typeface="Lucida Sans Unicode"/>
                <a:cs typeface="Lucida Sans Unicode"/>
              </a:rPr>
              <a:t>baru.</a:t>
            </a:r>
            <a:endParaRPr sz="2150">
              <a:latin typeface="Lucida Sans Unicode"/>
              <a:cs typeface="Lucida Sans Unicode"/>
            </a:endParaRPr>
          </a:p>
          <a:p>
            <a:pPr marL="12700">
              <a:lnSpc>
                <a:spcPts val="2530"/>
              </a:lnSpc>
            </a:pPr>
            <a:r>
              <a:rPr dirty="0" sz="2150" spc="-50">
                <a:solidFill>
                  <a:srgbClr val="4E4F2E"/>
                </a:solidFill>
                <a:latin typeface="Lucida Sans Unicode"/>
                <a:cs typeface="Lucida Sans Unicode"/>
              </a:rPr>
              <a:t>.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5526" y="1029184"/>
            <a:ext cx="4029074" cy="12334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94159" y="1963506"/>
            <a:ext cx="16213455" cy="4188460"/>
          </a:xfrm>
          <a:custGeom>
            <a:avLst/>
            <a:gdLst/>
            <a:ahLst/>
            <a:cxnLst/>
            <a:rect l="l" t="t" r="r" b="b"/>
            <a:pathLst>
              <a:path w="16213455" h="4188460">
                <a:moveTo>
                  <a:pt x="16070955" y="4188287"/>
                </a:moveTo>
                <a:lnTo>
                  <a:pt x="142875" y="4188287"/>
                </a:lnTo>
                <a:lnTo>
                  <a:pt x="114871" y="4185517"/>
                </a:lnTo>
                <a:lnTo>
                  <a:pt x="63607" y="4164283"/>
                </a:lnTo>
                <a:lnTo>
                  <a:pt x="24004" y="4124680"/>
                </a:lnTo>
                <a:lnTo>
                  <a:pt x="2770" y="4073416"/>
                </a:lnTo>
                <a:lnTo>
                  <a:pt x="0" y="4045413"/>
                </a:lnTo>
                <a:lnTo>
                  <a:pt x="0" y="142875"/>
                </a:lnTo>
                <a:lnTo>
                  <a:pt x="10875" y="88199"/>
                </a:lnTo>
                <a:lnTo>
                  <a:pt x="41847" y="41847"/>
                </a:lnTo>
                <a:lnTo>
                  <a:pt x="88199" y="10875"/>
                </a:lnTo>
                <a:lnTo>
                  <a:pt x="142875" y="0"/>
                </a:lnTo>
                <a:lnTo>
                  <a:pt x="16070955" y="0"/>
                </a:lnTo>
                <a:lnTo>
                  <a:pt x="16098958" y="2770"/>
                </a:lnTo>
                <a:lnTo>
                  <a:pt x="16150221" y="24004"/>
                </a:lnTo>
                <a:lnTo>
                  <a:pt x="16189825" y="63607"/>
                </a:lnTo>
                <a:lnTo>
                  <a:pt x="16211059" y="114871"/>
                </a:lnTo>
                <a:lnTo>
                  <a:pt x="16213254" y="137060"/>
                </a:lnTo>
                <a:lnTo>
                  <a:pt x="16213254" y="4051227"/>
                </a:lnTo>
                <a:lnTo>
                  <a:pt x="16202954" y="4100088"/>
                </a:lnTo>
                <a:lnTo>
                  <a:pt x="16171982" y="4146440"/>
                </a:lnTo>
                <a:lnTo>
                  <a:pt x="16125630" y="4177412"/>
                </a:lnTo>
                <a:lnTo>
                  <a:pt x="16070955" y="41882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46727" y="2549365"/>
            <a:ext cx="14053819" cy="2174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5250">
              <a:lnSpc>
                <a:spcPts val="2870"/>
              </a:lnSpc>
              <a:spcBef>
                <a:spcPts val="100"/>
              </a:spcBef>
            </a:pPr>
            <a:r>
              <a:rPr dirty="0" sz="2450" spc="45">
                <a:solidFill>
                  <a:srgbClr val="4E4F2E"/>
                </a:solidFill>
                <a:latin typeface="Lucida Sans Unicode"/>
                <a:cs typeface="Lucida Sans Unicode"/>
              </a:rPr>
              <a:t>Kesimpulan</a:t>
            </a:r>
            <a:r>
              <a:rPr dirty="0" sz="2450" spc="-1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85">
                <a:solidFill>
                  <a:srgbClr val="4E4F2E"/>
                </a:solidFill>
                <a:latin typeface="Lucida Sans Unicode"/>
                <a:cs typeface="Lucida Sans Unicode"/>
              </a:rPr>
              <a:t>Umum</a:t>
            </a:r>
            <a:endParaRPr sz="2450">
              <a:latin typeface="Lucida Sans Unicode"/>
              <a:cs typeface="Lucida Sans Unicode"/>
            </a:endParaRPr>
          </a:p>
          <a:p>
            <a:pPr marL="12700" marR="38100">
              <a:lnSpc>
                <a:spcPts val="2800"/>
              </a:lnSpc>
              <a:spcBef>
                <a:spcPts val="135"/>
              </a:spcBef>
            </a:pP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Algoritma</a:t>
            </a:r>
            <a:r>
              <a:rPr dirty="0" sz="245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AES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14">
                <a:solidFill>
                  <a:srgbClr val="4E4F2E"/>
                </a:solidFill>
                <a:latin typeface="Lucida Sans Unicode"/>
                <a:cs typeface="Lucida Sans Unicode"/>
              </a:rPr>
              <a:t>sangat</a:t>
            </a:r>
            <a:r>
              <a:rPr dirty="0" sz="245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35">
                <a:solidFill>
                  <a:srgbClr val="4E4F2E"/>
                </a:solidFill>
                <a:latin typeface="Lucida Sans Unicode"/>
                <a:cs typeface="Lucida Sans Unicode"/>
              </a:rPr>
              <a:t>efektif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35">
                <a:solidFill>
                  <a:srgbClr val="4E4F2E"/>
                </a:solidFill>
                <a:latin typeface="Lucida Sans Unicode"/>
                <a:cs typeface="Lucida Sans Unicode"/>
              </a:rPr>
              <a:t>menjaga</a:t>
            </a:r>
            <a:r>
              <a:rPr dirty="0" sz="245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35">
                <a:solidFill>
                  <a:srgbClr val="4E4F2E"/>
                </a:solidFill>
                <a:latin typeface="Lucida Sans Unicode"/>
                <a:cs typeface="Lucida Sans Unicode"/>
              </a:rPr>
              <a:t>keamanan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60">
                <a:solidFill>
                  <a:srgbClr val="4E4F2E"/>
                </a:solidFill>
                <a:latin typeface="Lucida Sans Unicode"/>
                <a:cs typeface="Lucida Sans Unicode"/>
              </a:rPr>
              <a:t>data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0">
                <a:solidFill>
                  <a:srgbClr val="4E4F2E"/>
                </a:solidFill>
                <a:latin typeface="Lucida Sans Unicode"/>
                <a:cs typeface="Lucida Sans Unicode"/>
              </a:rPr>
              <a:t>digital,</a:t>
            </a:r>
            <a:r>
              <a:rPr dirty="0" sz="245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14">
                <a:solidFill>
                  <a:srgbClr val="4E4F2E"/>
                </a:solidFill>
                <a:latin typeface="Lucida Sans Unicode"/>
                <a:cs typeface="Lucida Sans Unicode"/>
              </a:rPr>
              <a:t>namun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85">
                <a:solidFill>
                  <a:srgbClr val="4E4F2E"/>
                </a:solidFill>
                <a:latin typeface="Lucida Sans Unicode"/>
                <a:cs typeface="Lucida Sans Unicode"/>
              </a:rPr>
              <a:t>performanya</a:t>
            </a:r>
            <a:r>
              <a:rPr dirty="0" sz="2450" spc="-9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30">
                <a:solidFill>
                  <a:srgbClr val="4E4F2E"/>
                </a:solidFill>
                <a:latin typeface="Lucida Sans Unicode"/>
                <a:cs typeface="Lucida Sans Unicode"/>
              </a:rPr>
              <a:t>dapat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ditingkatkan</a:t>
            </a:r>
            <a:r>
              <a:rPr dirty="0" sz="2450" spc="-2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14">
                <a:solidFill>
                  <a:srgbClr val="4E4F2E"/>
                </a:solidFill>
                <a:latin typeface="Lucida Sans Unicode"/>
                <a:cs typeface="Lucida Sans Unicode"/>
              </a:rPr>
              <a:t>dengan</a:t>
            </a:r>
            <a:r>
              <a:rPr dirty="0" sz="2450" spc="-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integrasi</a:t>
            </a:r>
            <a:r>
              <a:rPr dirty="0" sz="2450" spc="-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konsep</a:t>
            </a:r>
            <a:r>
              <a:rPr dirty="0" sz="2450" spc="-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5">
                <a:solidFill>
                  <a:srgbClr val="4E4F2E"/>
                </a:solidFill>
                <a:latin typeface="Lucida Sans Unicode"/>
                <a:cs typeface="Lucida Sans Unicode"/>
              </a:rPr>
              <a:t>priority</a:t>
            </a:r>
            <a:r>
              <a:rPr dirty="0" sz="2450" spc="-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4E4F2E"/>
                </a:solidFill>
                <a:latin typeface="Lucida Sans Unicode"/>
                <a:cs typeface="Lucida Sans Unicode"/>
              </a:rPr>
              <a:t>queue.</a:t>
            </a:r>
            <a:endParaRPr sz="2450">
              <a:latin typeface="Lucida Sans Unicode"/>
              <a:cs typeface="Lucida Sans Unicode"/>
            </a:endParaRPr>
          </a:p>
          <a:p>
            <a:pPr marL="95250">
              <a:lnSpc>
                <a:spcPts val="2650"/>
              </a:lnSpc>
            </a:pP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Integrasi</a:t>
            </a:r>
            <a:r>
              <a:rPr dirty="0" sz="24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70">
                <a:solidFill>
                  <a:srgbClr val="4E4F2E"/>
                </a:solidFill>
                <a:latin typeface="Lucida Sans Unicode"/>
                <a:cs typeface="Lucida Sans Unicode"/>
              </a:rPr>
              <a:t>ini</a:t>
            </a:r>
            <a:r>
              <a:rPr dirty="0" sz="24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50">
                <a:solidFill>
                  <a:srgbClr val="4E4F2E"/>
                </a:solidFill>
                <a:latin typeface="Lucida Sans Unicode"/>
                <a:cs typeface="Lucida Sans Unicode"/>
              </a:rPr>
              <a:t>memungkinkan</a:t>
            </a:r>
            <a:r>
              <a:rPr dirty="0" sz="24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sistem</a:t>
            </a:r>
            <a:r>
              <a:rPr dirty="0" sz="24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0">
                <a:solidFill>
                  <a:srgbClr val="4E4F2E"/>
                </a:solidFill>
                <a:latin typeface="Lucida Sans Unicode"/>
                <a:cs typeface="Lucida Sans Unicode"/>
              </a:rPr>
              <a:t>untuk</a:t>
            </a:r>
            <a:r>
              <a:rPr dirty="0" sz="24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mengenkripsi</a:t>
            </a:r>
            <a:r>
              <a:rPr dirty="0" sz="24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60">
                <a:solidFill>
                  <a:srgbClr val="4E4F2E"/>
                </a:solidFill>
                <a:latin typeface="Lucida Sans Unicode"/>
                <a:cs typeface="Lucida Sans Unicode"/>
              </a:rPr>
              <a:t>data</a:t>
            </a:r>
            <a:r>
              <a:rPr dirty="0" sz="24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80">
                <a:solidFill>
                  <a:srgbClr val="4E4F2E"/>
                </a:solidFill>
                <a:latin typeface="Lucida Sans Unicode"/>
                <a:cs typeface="Lucida Sans Unicode"/>
              </a:rPr>
              <a:t>berdasarkan</a:t>
            </a:r>
            <a:r>
              <a:rPr dirty="0" sz="2450" spc="-2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4E4F2E"/>
                </a:solidFill>
                <a:latin typeface="Lucida Sans Unicode"/>
                <a:cs typeface="Lucida Sans Unicode"/>
              </a:rPr>
              <a:t>prioritas,</a:t>
            </a:r>
            <a:endParaRPr sz="2450">
              <a:latin typeface="Lucida Sans Unicode"/>
              <a:cs typeface="Lucida Sans Unicode"/>
            </a:endParaRPr>
          </a:p>
          <a:p>
            <a:pPr marL="12700" marR="5080">
              <a:lnSpc>
                <a:spcPts val="2800"/>
              </a:lnSpc>
              <a:spcBef>
                <a:spcPts val="140"/>
              </a:spcBef>
            </a:pPr>
            <a:r>
              <a:rPr dirty="0" sz="2450" spc="75">
                <a:solidFill>
                  <a:srgbClr val="4E4F2E"/>
                </a:solidFill>
                <a:latin typeface="Lucida Sans Unicode"/>
                <a:cs typeface="Lucida Sans Unicode"/>
              </a:rPr>
              <a:t>sehingga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10">
                <a:solidFill>
                  <a:srgbClr val="4E4F2E"/>
                </a:solidFill>
                <a:latin typeface="Lucida Sans Unicode"/>
                <a:cs typeface="Lucida Sans Unicode"/>
              </a:rPr>
              <a:t>efisiensi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40">
                <a:solidFill>
                  <a:srgbClr val="4E4F2E"/>
                </a:solidFill>
                <a:latin typeface="Lucida Sans Unicode"/>
                <a:cs typeface="Lucida Sans Unicode"/>
              </a:rPr>
              <a:t>dan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35">
                <a:solidFill>
                  <a:srgbClr val="4E4F2E"/>
                </a:solidFill>
                <a:latin typeface="Lucida Sans Unicode"/>
                <a:cs typeface="Lucida Sans Unicode"/>
              </a:rPr>
              <a:t>keamanan</a:t>
            </a:r>
            <a:r>
              <a:rPr dirty="0" sz="245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60">
                <a:solidFill>
                  <a:srgbClr val="4E4F2E"/>
                </a:solidFill>
                <a:latin typeface="Lucida Sans Unicode"/>
                <a:cs typeface="Lucida Sans Unicode"/>
              </a:rPr>
              <a:t>berjalan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beriringan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95">
                <a:solidFill>
                  <a:srgbClr val="4E4F2E"/>
                </a:solidFill>
                <a:latin typeface="Lucida Sans Unicode"/>
                <a:cs typeface="Lucida Sans Unicode"/>
              </a:rPr>
              <a:t>—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70">
                <a:solidFill>
                  <a:srgbClr val="4E4F2E"/>
                </a:solidFill>
                <a:latin typeface="Lucida Sans Unicode"/>
                <a:cs typeface="Lucida Sans Unicode"/>
              </a:rPr>
              <a:t>cocok</a:t>
            </a:r>
            <a:r>
              <a:rPr dirty="0" sz="245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50">
                <a:solidFill>
                  <a:srgbClr val="4E4F2E"/>
                </a:solidFill>
                <a:latin typeface="Lucida Sans Unicode"/>
                <a:cs typeface="Lucida Sans Unicode"/>
              </a:rPr>
              <a:t>diterapkan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95">
                <a:solidFill>
                  <a:srgbClr val="4E4F2E"/>
                </a:solidFill>
                <a:latin typeface="Lucida Sans Unicode"/>
                <a:cs typeface="Lucida Sans Unicode"/>
              </a:rPr>
              <a:t>pada</a:t>
            </a:r>
            <a:r>
              <a:rPr dirty="0" sz="2450" spc="-9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cloud,</a:t>
            </a:r>
            <a:r>
              <a:rPr dirty="0" sz="2450" spc="-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-20">
                <a:solidFill>
                  <a:srgbClr val="4E4F2E"/>
                </a:solidFill>
                <a:latin typeface="Lucida Sans Unicode"/>
                <a:cs typeface="Lucida Sans Unicode"/>
              </a:rPr>
              <a:t>IoT, </a:t>
            </a:r>
            <a:r>
              <a:rPr dirty="0" sz="2450" spc="140">
                <a:solidFill>
                  <a:srgbClr val="4E4F2E"/>
                </a:solidFill>
                <a:latin typeface="Lucida Sans Unicode"/>
                <a:cs typeface="Lucida Sans Unicode"/>
              </a:rPr>
              <a:t>dan</a:t>
            </a:r>
            <a:r>
              <a:rPr dirty="0" sz="2450" spc="70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sistem</a:t>
            </a:r>
            <a:r>
              <a:rPr dirty="0" sz="2450" spc="85">
                <a:solidFill>
                  <a:srgbClr val="4E4F2E"/>
                </a:solidFill>
                <a:latin typeface="Lucida Sans Unicode"/>
                <a:cs typeface="Lucida Sans Unicode"/>
              </a:rPr>
              <a:t> </a:t>
            </a:r>
            <a:r>
              <a:rPr dirty="0" sz="2450">
                <a:solidFill>
                  <a:srgbClr val="4E4F2E"/>
                </a:solidFill>
                <a:latin typeface="Lucida Sans Unicode"/>
                <a:cs typeface="Lucida Sans Unicode"/>
              </a:rPr>
              <a:t>real-</a:t>
            </a:r>
            <a:r>
              <a:rPr dirty="0" sz="2450" spc="-20">
                <a:solidFill>
                  <a:srgbClr val="4E4F2E"/>
                </a:solidFill>
                <a:latin typeface="Lucida Sans Unicode"/>
                <a:cs typeface="Lucida Sans Unicode"/>
              </a:rPr>
              <a:t>time.</a:t>
            </a:r>
            <a:endParaRPr sz="245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633271" y="9588181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59427" y="9597706"/>
            <a:ext cx="5895340" cy="19050"/>
          </a:xfrm>
          <a:custGeom>
            <a:avLst/>
            <a:gdLst/>
            <a:ahLst/>
            <a:cxnLst/>
            <a:rect l="l" t="t" r="r" b="b"/>
            <a:pathLst>
              <a:path w="5895340" h="19050">
                <a:moveTo>
                  <a:pt x="0" y="19049"/>
                </a:moveTo>
                <a:lnTo>
                  <a:pt x="5895300" y="0"/>
                </a:lnTo>
              </a:path>
            </a:pathLst>
          </a:custGeom>
          <a:ln w="38099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049661" y="1620605"/>
            <a:ext cx="16035655" cy="5331460"/>
          </a:xfrm>
          <a:custGeom>
            <a:avLst/>
            <a:gdLst/>
            <a:ahLst/>
            <a:cxnLst/>
            <a:rect l="l" t="t" r="r" b="b"/>
            <a:pathLst>
              <a:path w="16035655" h="5331459">
                <a:moveTo>
                  <a:pt x="15899503" y="5331287"/>
                </a:moveTo>
                <a:lnTo>
                  <a:pt x="142875" y="5331287"/>
                </a:lnTo>
                <a:lnTo>
                  <a:pt x="114871" y="5328517"/>
                </a:lnTo>
                <a:lnTo>
                  <a:pt x="63607" y="5307283"/>
                </a:lnTo>
                <a:lnTo>
                  <a:pt x="24004" y="5267679"/>
                </a:lnTo>
                <a:lnTo>
                  <a:pt x="2770" y="5216416"/>
                </a:lnTo>
                <a:lnTo>
                  <a:pt x="0" y="5188413"/>
                </a:lnTo>
                <a:lnTo>
                  <a:pt x="0" y="142875"/>
                </a:lnTo>
                <a:lnTo>
                  <a:pt x="10875" y="88199"/>
                </a:lnTo>
                <a:lnTo>
                  <a:pt x="41847" y="41847"/>
                </a:lnTo>
                <a:lnTo>
                  <a:pt x="88199" y="10875"/>
                </a:lnTo>
                <a:lnTo>
                  <a:pt x="142875" y="0"/>
                </a:lnTo>
                <a:lnTo>
                  <a:pt x="15899503" y="0"/>
                </a:lnTo>
                <a:lnTo>
                  <a:pt x="15927508" y="2770"/>
                </a:lnTo>
                <a:lnTo>
                  <a:pt x="15978772" y="24004"/>
                </a:lnTo>
                <a:lnTo>
                  <a:pt x="16018374" y="63607"/>
                </a:lnTo>
                <a:lnTo>
                  <a:pt x="16035513" y="101394"/>
                </a:lnTo>
                <a:lnTo>
                  <a:pt x="16035513" y="5229893"/>
                </a:lnTo>
                <a:lnTo>
                  <a:pt x="16018374" y="5267679"/>
                </a:lnTo>
                <a:lnTo>
                  <a:pt x="15978772" y="5307283"/>
                </a:lnTo>
                <a:lnTo>
                  <a:pt x="15927508" y="5328517"/>
                </a:lnTo>
                <a:lnTo>
                  <a:pt x="15899503" y="53312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54767" y="2037455"/>
            <a:ext cx="15672435" cy="406209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.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Daftar</a:t>
            </a:r>
            <a:r>
              <a:rPr dirty="0" sz="2050" spc="-12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Pustaka</a:t>
            </a:r>
            <a:r>
              <a:rPr dirty="0" sz="2050" spc="-12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0">
                <a:solidFill>
                  <a:srgbClr val="737373"/>
                </a:solidFill>
                <a:latin typeface="Lucida Sans Unicode"/>
                <a:cs typeface="Lucida Sans Unicode"/>
              </a:rPr>
              <a:t>(APA</a:t>
            </a:r>
            <a:r>
              <a:rPr dirty="0" sz="2050" spc="-114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7th)</a:t>
            </a:r>
            <a:endParaRPr sz="2050">
              <a:latin typeface="Lucida Sans Unicode"/>
              <a:cs typeface="Lucida Sans Unicode"/>
            </a:endParaRPr>
          </a:p>
          <a:p>
            <a:pPr algn="ctr" marL="12700" marR="5080">
              <a:lnSpc>
                <a:spcPct val="117400"/>
              </a:lnSpc>
              <a:spcBef>
                <a:spcPts val="5"/>
              </a:spcBef>
            </a:pP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Ali,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5">
                <a:solidFill>
                  <a:srgbClr val="737373"/>
                </a:solidFill>
                <a:latin typeface="Lucida Sans Unicode"/>
                <a:cs typeface="Lucida Sans Unicode"/>
              </a:rPr>
              <a:t>M.,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85">
                <a:solidFill>
                  <a:srgbClr val="737373"/>
                </a:solidFill>
                <a:latin typeface="Lucida Sans Unicode"/>
                <a:cs typeface="Lucida Sans Unicode"/>
              </a:rPr>
              <a:t>&amp;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Rahman,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35">
                <a:solidFill>
                  <a:srgbClr val="737373"/>
                </a:solidFill>
                <a:latin typeface="Lucida Sans Unicode"/>
                <a:cs typeface="Lucida Sans Unicode"/>
              </a:rPr>
              <a:t>T.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(2020).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Comparative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5">
                <a:solidFill>
                  <a:srgbClr val="737373"/>
                </a:solidFill>
                <a:latin typeface="Lucida Sans Unicode"/>
                <a:cs typeface="Lucida Sans Unicode"/>
              </a:rPr>
              <a:t>analysis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of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0">
                <a:solidFill>
                  <a:srgbClr val="737373"/>
                </a:solidFill>
                <a:latin typeface="Lucida Sans Unicode"/>
                <a:cs typeface="Lucida Sans Unicode"/>
              </a:rPr>
              <a:t>RSA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and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70">
                <a:solidFill>
                  <a:srgbClr val="737373"/>
                </a:solidFill>
                <a:latin typeface="Lucida Sans Unicode"/>
                <a:cs typeface="Lucida Sans Unicode"/>
              </a:rPr>
              <a:t>ECC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for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mobile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0">
                <a:solidFill>
                  <a:srgbClr val="737373"/>
                </a:solidFill>
                <a:latin typeface="Lucida Sans Unicode"/>
                <a:cs typeface="Lucida Sans Unicode"/>
              </a:rPr>
              <a:t>security.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Journal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of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Information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0">
                <a:solidFill>
                  <a:srgbClr val="737373"/>
                </a:solidFill>
                <a:latin typeface="Lucida Sans Unicode"/>
                <a:cs typeface="Lucida Sans Unicode"/>
              </a:rPr>
              <a:t>Security,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15(2),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5">
                <a:solidFill>
                  <a:srgbClr val="737373"/>
                </a:solidFill>
                <a:latin typeface="Lucida Sans Unicode"/>
                <a:cs typeface="Lucida Sans Unicode"/>
              </a:rPr>
              <a:t>45– 54.</a:t>
            </a:r>
            <a:endParaRPr sz="2050">
              <a:latin typeface="Lucida Sans Unicode"/>
              <a:cs typeface="Lucida Sans Unicode"/>
            </a:endParaRPr>
          </a:p>
          <a:p>
            <a:pPr algn="ctr" marL="166370" marR="90170">
              <a:lnSpc>
                <a:spcPct val="117400"/>
              </a:lnSpc>
            </a:pPr>
            <a:r>
              <a:rPr dirty="0" sz="2050" spc="-30">
                <a:solidFill>
                  <a:srgbClr val="737373"/>
                </a:solidFill>
                <a:latin typeface="Lucida Sans Unicode"/>
                <a:cs typeface="Lucida Sans Unicode"/>
              </a:rPr>
              <a:t>Sari,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D.,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85">
                <a:solidFill>
                  <a:srgbClr val="737373"/>
                </a:solidFill>
                <a:latin typeface="Lucida Sans Unicode"/>
                <a:cs typeface="Lucida Sans Unicode"/>
              </a:rPr>
              <a:t>&amp;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Putra,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65">
                <a:solidFill>
                  <a:srgbClr val="737373"/>
                </a:solidFill>
                <a:latin typeface="Lucida Sans Unicode"/>
                <a:cs typeface="Lucida Sans Unicode"/>
              </a:rPr>
              <a:t>R.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(2021).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Implementation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of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AES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and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5">
                <a:solidFill>
                  <a:srgbClr val="737373"/>
                </a:solidFill>
                <a:latin typeface="Lucida Sans Unicode"/>
                <a:cs typeface="Lucida Sans Unicode"/>
              </a:rPr>
              <a:t>steganography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for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secure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55">
                <a:solidFill>
                  <a:srgbClr val="737373"/>
                </a:solidFill>
                <a:latin typeface="Lucida Sans Unicode"/>
                <a:cs typeface="Lucida Sans Unicode"/>
              </a:rPr>
              <a:t>digital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0">
                <a:solidFill>
                  <a:srgbClr val="737373"/>
                </a:solidFill>
                <a:latin typeface="Lucida Sans Unicode"/>
                <a:cs typeface="Lucida Sans Unicode"/>
              </a:rPr>
              <a:t>communication.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Indonesian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5">
                <a:solidFill>
                  <a:srgbClr val="737373"/>
                </a:solidFill>
                <a:latin typeface="Lucida Sans Unicode"/>
                <a:cs typeface="Lucida Sans Unicode"/>
              </a:rPr>
              <a:t>Journal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5">
                <a:solidFill>
                  <a:srgbClr val="737373"/>
                </a:solidFill>
                <a:latin typeface="Lucida Sans Unicode"/>
                <a:cs typeface="Lucida Sans Unicode"/>
              </a:rPr>
              <a:t>of </a:t>
            </a:r>
            <a:r>
              <a:rPr dirty="0" sz="2050" spc="-40">
                <a:solidFill>
                  <a:srgbClr val="737373"/>
                </a:solidFill>
                <a:latin typeface="Lucida Sans Unicode"/>
                <a:cs typeface="Lucida Sans Unicode"/>
              </a:rPr>
              <a:t>Informatics,</a:t>
            </a:r>
            <a:r>
              <a:rPr dirty="0" sz="2050" spc="-6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9(1),</a:t>
            </a:r>
            <a:r>
              <a:rPr dirty="0" sz="2050" spc="-6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33–41.</a:t>
            </a:r>
            <a:endParaRPr sz="2050">
              <a:latin typeface="Lucida Sans Unicode"/>
              <a:cs typeface="Lucida Sans Unicode"/>
            </a:endParaRPr>
          </a:p>
          <a:p>
            <a:pPr algn="ctr" marL="235585" marR="159385">
              <a:lnSpc>
                <a:spcPct val="117400"/>
              </a:lnSpc>
            </a:pP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Rahman,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20">
                <a:solidFill>
                  <a:srgbClr val="737373"/>
                </a:solidFill>
                <a:latin typeface="Lucida Sans Unicode"/>
                <a:cs typeface="Lucida Sans Unicode"/>
              </a:rPr>
              <a:t>A.,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70">
                <a:solidFill>
                  <a:srgbClr val="737373"/>
                </a:solidFill>
                <a:latin typeface="Lucida Sans Unicode"/>
                <a:cs typeface="Lucida Sans Unicode"/>
              </a:rPr>
              <a:t>Fikri,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5">
                <a:solidFill>
                  <a:srgbClr val="737373"/>
                </a:solidFill>
                <a:latin typeface="Lucida Sans Unicode"/>
                <a:cs typeface="Lucida Sans Unicode"/>
              </a:rPr>
              <a:t>M.,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85">
                <a:solidFill>
                  <a:srgbClr val="737373"/>
                </a:solidFill>
                <a:latin typeface="Lucida Sans Unicode"/>
                <a:cs typeface="Lucida Sans Unicode"/>
              </a:rPr>
              <a:t>&amp;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0">
                <a:solidFill>
                  <a:srgbClr val="737373"/>
                </a:solidFill>
                <a:latin typeface="Lucida Sans Unicode"/>
                <a:cs typeface="Lucida Sans Unicode"/>
              </a:rPr>
              <a:t>Santoso,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70">
                <a:solidFill>
                  <a:srgbClr val="737373"/>
                </a:solidFill>
                <a:latin typeface="Lucida Sans Unicode"/>
                <a:cs typeface="Lucida Sans Unicode"/>
              </a:rPr>
              <a:t>D.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(2022). 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evaluation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of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40">
                <a:solidFill>
                  <a:srgbClr val="737373"/>
                </a:solidFill>
                <a:latin typeface="Lucida Sans Unicode"/>
                <a:cs typeface="Lucida Sans Unicode"/>
              </a:rPr>
              <a:t>AES-</a:t>
            </a:r>
            <a:r>
              <a:rPr dirty="0" sz="2050" spc="-125">
                <a:solidFill>
                  <a:srgbClr val="737373"/>
                </a:solidFill>
                <a:latin typeface="Lucida Sans Unicode"/>
                <a:cs typeface="Lucida Sans Unicode"/>
              </a:rPr>
              <a:t>256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for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secure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0">
                <a:solidFill>
                  <a:srgbClr val="737373"/>
                </a:solidFill>
                <a:latin typeface="Lucida Sans Unicode"/>
                <a:cs typeface="Lucida Sans Unicode"/>
              </a:rPr>
              <a:t>cloud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0">
                <a:solidFill>
                  <a:srgbClr val="737373"/>
                </a:solidFill>
                <a:latin typeface="Lucida Sans Unicode"/>
                <a:cs typeface="Lucida Sans Unicode"/>
              </a:rPr>
              <a:t>storage.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Journal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of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Computer </a:t>
            </a:r>
            <a:r>
              <a:rPr dirty="0" sz="2050" spc="-30">
                <a:solidFill>
                  <a:srgbClr val="737373"/>
                </a:solidFill>
                <a:latin typeface="Lucida Sans Unicode"/>
                <a:cs typeface="Lucida Sans Unicode"/>
              </a:rPr>
              <a:t>Security,</a:t>
            </a:r>
            <a:r>
              <a:rPr dirty="0" sz="2050" spc="-114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18(3),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112–121.</a:t>
            </a:r>
            <a:endParaRPr sz="2050">
              <a:latin typeface="Lucida Sans Unicode"/>
              <a:cs typeface="Lucida Sans Unicode"/>
            </a:endParaRPr>
          </a:p>
          <a:p>
            <a:pPr algn="ctr" marL="189865" marR="113664">
              <a:lnSpc>
                <a:spcPct val="117400"/>
              </a:lnSpc>
            </a:pPr>
            <a:r>
              <a:rPr dirty="0" sz="2050" spc="-25">
                <a:solidFill>
                  <a:srgbClr val="737373"/>
                </a:solidFill>
                <a:latin typeface="Lucida Sans Unicode"/>
                <a:cs typeface="Lucida Sans Unicode"/>
              </a:rPr>
              <a:t>Wijaya,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R., </a:t>
            </a:r>
            <a:r>
              <a:rPr dirty="0" sz="2050" spc="85">
                <a:solidFill>
                  <a:srgbClr val="737373"/>
                </a:solidFill>
                <a:latin typeface="Lucida Sans Unicode"/>
                <a:cs typeface="Lucida Sans Unicode"/>
              </a:rPr>
              <a:t>&amp;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0">
                <a:solidFill>
                  <a:srgbClr val="737373"/>
                </a:solidFill>
                <a:latin typeface="Lucida Sans Unicode"/>
                <a:cs typeface="Lucida Sans Unicode"/>
              </a:rPr>
              <a:t>Hasan,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60">
                <a:solidFill>
                  <a:srgbClr val="737373"/>
                </a:solidFill>
                <a:latin typeface="Lucida Sans Unicode"/>
                <a:cs typeface="Lucida Sans Unicode"/>
              </a:rPr>
              <a:t>L.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(2023).</a:t>
            </a:r>
            <a:r>
              <a:rPr dirty="0" sz="2050" spc="-9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Comparative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0">
                <a:solidFill>
                  <a:srgbClr val="737373"/>
                </a:solidFill>
                <a:latin typeface="Lucida Sans Unicode"/>
                <a:cs typeface="Lucida Sans Unicode"/>
              </a:rPr>
              <a:t>study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of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AES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and</a:t>
            </a:r>
            <a:r>
              <a:rPr dirty="0" sz="2050" spc="-9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60">
                <a:solidFill>
                  <a:srgbClr val="737373"/>
                </a:solidFill>
                <a:latin typeface="Lucida Sans Unicode"/>
                <a:cs typeface="Lucida Sans Unicode"/>
              </a:rPr>
              <a:t>ChaCha20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5">
                <a:solidFill>
                  <a:srgbClr val="737373"/>
                </a:solidFill>
                <a:latin typeface="Lucida Sans Unicode"/>
                <a:cs typeface="Lucida Sans Unicode"/>
              </a:rPr>
              <a:t>encryption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on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various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5">
                <a:solidFill>
                  <a:srgbClr val="737373"/>
                </a:solidFill>
                <a:latin typeface="Lucida Sans Unicode"/>
                <a:cs typeface="Lucida Sans Unicode"/>
              </a:rPr>
              <a:t>platforms.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International</a:t>
            </a:r>
            <a:r>
              <a:rPr dirty="0" sz="2050" spc="-9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Journal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of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0">
                <a:solidFill>
                  <a:srgbClr val="737373"/>
                </a:solidFill>
                <a:latin typeface="Lucida Sans Unicode"/>
                <a:cs typeface="Lucida Sans Unicode"/>
              </a:rPr>
              <a:t>Cybersecurity,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10(2),</a:t>
            </a:r>
            <a:r>
              <a:rPr dirty="0" sz="2050" spc="-11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55–66.</a:t>
            </a:r>
            <a:endParaRPr sz="2050">
              <a:latin typeface="Lucida Sans Unicode"/>
              <a:cs typeface="Lucida Sans Unicode"/>
            </a:endParaRPr>
          </a:p>
          <a:p>
            <a:pPr algn="ctr" marL="700405" marR="624205">
              <a:lnSpc>
                <a:spcPct val="117400"/>
              </a:lnSpc>
            </a:pPr>
            <a:r>
              <a:rPr dirty="0" sz="2050" spc="-65">
                <a:solidFill>
                  <a:srgbClr val="737373"/>
                </a:solidFill>
                <a:latin typeface="Lucida Sans Unicode"/>
                <a:cs typeface="Lucida Sans Unicode"/>
              </a:rPr>
              <a:t>Zhang,</a:t>
            </a:r>
            <a:r>
              <a:rPr dirty="0" sz="2050" spc="-9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L., </a:t>
            </a:r>
            <a:r>
              <a:rPr dirty="0" sz="2050" spc="-55">
                <a:solidFill>
                  <a:srgbClr val="737373"/>
                </a:solidFill>
                <a:latin typeface="Lucida Sans Unicode"/>
                <a:cs typeface="Lucida Sans Unicode"/>
              </a:rPr>
              <a:t>Chen,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25">
                <a:solidFill>
                  <a:srgbClr val="737373"/>
                </a:solidFill>
                <a:latin typeface="Lucida Sans Unicode"/>
                <a:cs typeface="Lucida Sans Unicode"/>
              </a:rPr>
              <a:t>Y.,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85">
                <a:solidFill>
                  <a:srgbClr val="737373"/>
                </a:solidFill>
                <a:latin typeface="Lucida Sans Unicode"/>
                <a:cs typeface="Lucida Sans Unicode"/>
              </a:rPr>
              <a:t>&amp;</a:t>
            </a:r>
            <a:r>
              <a:rPr dirty="0" sz="2050" spc="-9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5">
                <a:solidFill>
                  <a:srgbClr val="737373"/>
                </a:solidFill>
                <a:latin typeface="Lucida Sans Unicode"/>
                <a:cs typeface="Lucida Sans Unicode"/>
              </a:rPr>
              <a:t>Zhou,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W.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5">
                <a:solidFill>
                  <a:srgbClr val="737373"/>
                </a:solidFill>
                <a:latin typeface="Lucida Sans Unicode"/>
                <a:cs typeface="Lucida Sans Unicode"/>
              </a:rPr>
              <a:t>(2020).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55">
                <a:solidFill>
                  <a:srgbClr val="737373"/>
                </a:solidFill>
                <a:latin typeface="Lucida Sans Unicode"/>
                <a:cs typeface="Lucida Sans Unicode"/>
              </a:rPr>
              <a:t>An</a:t>
            </a:r>
            <a:r>
              <a:rPr dirty="0" sz="2050" spc="-9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5">
                <a:solidFill>
                  <a:srgbClr val="737373"/>
                </a:solidFill>
                <a:latin typeface="Lucida Sans Unicode"/>
                <a:cs typeface="Lucida Sans Unicode"/>
              </a:rPr>
              <a:t>optimized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40">
                <a:solidFill>
                  <a:srgbClr val="737373"/>
                </a:solidFill>
                <a:latin typeface="Lucida Sans Unicode"/>
                <a:cs typeface="Lucida Sans Unicode"/>
              </a:rPr>
              <a:t>AES-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GCM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model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for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secure</a:t>
            </a:r>
            <a:r>
              <a:rPr dirty="0" sz="2050" spc="-9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0">
                <a:solidFill>
                  <a:srgbClr val="737373"/>
                </a:solidFill>
                <a:latin typeface="Lucida Sans Unicode"/>
                <a:cs typeface="Lucida Sans Unicode"/>
              </a:rPr>
              <a:t>communication.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IEEE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0">
                <a:solidFill>
                  <a:srgbClr val="737373"/>
                </a:solidFill>
                <a:latin typeface="Lucida Sans Unicode"/>
                <a:cs typeface="Lucida Sans Unicode"/>
              </a:rPr>
              <a:t>Transactions</a:t>
            </a:r>
            <a:r>
              <a:rPr dirty="0" sz="2050" spc="-9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5">
                <a:solidFill>
                  <a:srgbClr val="737373"/>
                </a:solidFill>
                <a:latin typeface="Lucida Sans Unicode"/>
                <a:cs typeface="Lucida Sans Unicode"/>
              </a:rPr>
              <a:t>on </a:t>
            </a:r>
            <a:r>
              <a:rPr dirty="0" sz="2050" spc="-20">
                <a:solidFill>
                  <a:srgbClr val="737373"/>
                </a:solidFill>
                <a:latin typeface="Lucida Sans Unicode"/>
                <a:cs typeface="Lucida Sans Unicode"/>
              </a:rPr>
              <a:t>Information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5">
                <a:solidFill>
                  <a:srgbClr val="737373"/>
                </a:solidFill>
                <a:latin typeface="Lucida Sans Unicode"/>
                <a:cs typeface="Lucida Sans Unicode"/>
              </a:rPr>
              <a:t>Forensics</a:t>
            </a:r>
            <a:r>
              <a:rPr dirty="0" sz="2050" spc="-9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>
                <a:solidFill>
                  <a:srgbClr val="737373"/>
                </a:solidFill>
                <a:latin typeface="Lucida Sans Unicode"/>
                <a:cs typeface="Lucida Sans Unicode"/>
              </a:rPr>
              <a:t>and</a:t>
            </a:r>
            <a:r>
              <a:rPr dirty="0" sz="2050" spc="-9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30">
                <a:solidFill>
                  <a:srgbClr val="737373"/>
                </a:solidFill>
                <a:latin typeface="Lucida Sans Unicode"/>
                <a:cs typeface="Lucida Sans Unicode"/>
              </a:rPr>
              <a:t>Security,</a:t>
            </a:r>
            <a:r>
              <a:rPr dirty="0" sz="2050" spc="-100">
                <a:solidFill>
                  <a:srgbClr val="737373"/>
                </a:solidFill>
                <a:latin typeface="Lucida Sans Unicode"/>
                <a:cs typeface="Lucida Sans Unicode"/>
              </a:rPr>
              <a:t> 15(1),</a:t>
            </a:r>
            <a:r>
              <a:rPr dirty="0" sz="2050" spc="-95">
                <a:solidFill>
                  <a:srgbClr val="737373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0">
                <a:solidFill>
                  <a:srgbClr val="737373"/>
                </a:solidFill>
                <a:latin typeface="Lucida Sans Unicode"/>
                <a:cs typeface="Lucida Sans Unicode"/>
              </a:rPr>
              <a:t>89–97.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395015" y="8764460"/>
            <a:ext cx="3522979" cy="96139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>
              <a:lnSpc>
                <a:spcPts val="2120"/>
              </a:lnSpc>
              <a:spcBef>
                <a:spcPts val="18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60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algn="ctr" marR="8890">
              <a:lnSpc>
                <a:spcPts val="2840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algn="ctr" marR="889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2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1927" y="3859727"/>
            <a:ext cx="14268449" cy="25717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8386" rIns="0" bIns="0" rtlCol="0" vert="horz">
            <a:spAutoFit/>
          </a:bodyPr>
          <a:lstStyle/>
          <a:p>
            <a:pPr marL="3348354">
              <a:lnSpc>
                <a:spcPct val="100000"/>
              </a:lnSpc>
              <a:spcBef>
                <a:spcPts val="100"/>
              </a:spcBef>
            </a:pPr>
            <a:r>
              <a:rPr dirty="0" spc="90"/>
              <a:t>THANK</a:t>
            </a:r>
            <a:r>
              <a:rPr dirty="0" spc="-270"/>
              <a:t> </a:t>
            </a:r>
            <a:r>
              <a:rPr dirty="0" spc="-25"/>
              <a:t>YOU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927" y="3555656"/>
            <a:ext cx="4029074" cy="12334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765818" y="6509138"/>
            <a:ext cx="3522979" cy="938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Presented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0">
                <a:solidFill>
                  <a:srgbClr val="737373"/>
                </a:solidFill>
                <a:latin typeface="Verdana"/>
                <a:cs typeface="Verdana"/>
              </a:rPr>
              <a:t>by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30">
                <a:solidFill>
                  <a:srgbClr val="737373"/>
                </a:solidFill>
                <a:latin typeface="Verdana"/>
                <a:cs typeface="Verdana"/>
              </a:rPr>
              <a:t>Anna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114">
                <a:solidFill>
                  <a:srgbClr val="737373"/>
                </a:solidFill>
                <a:latin typeface="Verdana"/>
                <a:cs typeface="Verdana"/>
              </a:rPr>
              <a:t>Kartina</a:t>
            </a:r>
            <a:r>
              <a:rPr dirty="0" sz="1800" spc="-150">
                <a:solidFill>
                  <a:srgbClr val="737373"/>
                </a:solidFill>
                <a:latin typeface="Verdana"/>
                <a:cs typeface="Verdana"/>
              </a:rPr>
              <a:t> </a:t>
            </a:r>
            <a:r>
              <a:rPr dirty="0" sz="1800" spc="-75">
                <a:solidFill>
                  <a:srgbClr val="737373"/>
                </a:solidFill>
                <a:latin typeface="Verdana"/>
                <a:cs typeface="Verdana"/>
              </a:rPr>
              <a:t>Marlina</a:t>
            </a:r>
            <a:endParaRPr sz="1800">
              <a:latin typeface="Verdana"/>
              <a:cs typeface="Verdana"/>
            </a:endParaRPr>
          </a:p>
          <a:p>
            <a:pPr marL="917575">
              <a:lnSpc>
                <a:spcPts val="2845"/>
              </a:lnSpc>
            </a:pPr>
            <a:r>
              <a:rPr dirty="0" sz="2400" spc="-135" b="1">
                <a:solidFill>
                  <a:srgbClr val="737373"/>
                </a:solidFill>
                <a:latin typeface="Tahoma"/>
                <a:cs typeface="Tahoma"/>
              </a:rPr>
              <a:t>Borcelle</a:t>
            </a:r>
            <a:r>
              <a:rPr dirty="0" sz="2400" spc="-20" b="1">
                <a:solidFill>
                  <a:srgbClr val="737373"/>
                </a:solidFill>
                <a:latin typeface="Tahoma"/>
                <a:cs typeface="Tahoma"/>
              </a:rPr>
              <a:t> </a:t>
            </a:r>
            <a:r>
              <a:rPr dirty="0" sz="2400" spc="-120" b="1">
                <a:solidFill>
                  <a:srgbClr val="737373"/>
                </a:solidFill>
                <a:latin typeface="Tahoma"/>
                <a:cs typeface="Tahoma"/>
              </a:rPr>
              <a:t>University</a:t>
            </a:r>
            <a:endParaRPr sz="2400">
              <a:latin typeface="Tahoma"/>
              <a:cs typeface="Tahoma"/>
            </a:endParaRPr>
          </a:p>
          <a:p>
            <a:pPr marL="2334260">
              <a:lnSpc>
                <a:spcPct val="100000"/>
              </a:lnSpc>
              <a:spcBef>
                <a:spcPts val="65"/>
              </a:spcBef>
            </a:pPr>
            <a:r>
              <a:rPr dirty="0" sz="1800" spc="-100">
                <a:solidFill>
                  <a:srgbClr val="737373"/>
                </a:solidFill>
                <a:latin typeface="Verdana"/>
                <a:cs typeface="Verdana"/>
              </a:rPr>
              <a:t>2025-</a:t>
            </a:r>
            <a:r>
              <a:rPr dirty="0" sz="1800" spc="-70">
                <a:solidFill>
                  <a:srgbClr val="737373"/>
                </a:solidFill>
                <a:latin typeface="Verdana"/>
                <a:cs typeface="Verdana"/>
              </a:rPr>
              <a:t>2026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Muhammad Najib Ardiansah</dc:creator>
  <cp:keywords>DAG37GSY6Xg,BAFHjwE2pgo,0</cp:keywords>
  <dc:title>Analisis Algoritma AES dalam Keamanan Data Digital</dc:title>
  <dcterms:created xsi:type="dcterms:W3CDTF">2025-11-06T13:50:51Z</dcterms:created>
  <dcterms:modified xsi:type="dcterms:W3CDTF">2025-11-06T13:50:51Z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2025-11-06T00:00:00Z</vt:filetime>
  </property>
  <property fmtid="{D5CDD505-2E9C-101B-9397-08002B2CF9AE}" pid="5" name="Producer">
    <vt:lpwstr>Canva</vt:lpwstr>
  </property>
</Properties>
</file>